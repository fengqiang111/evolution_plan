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0" r:id="rId2"/>
    <p:sldId id="271" r:id="rId3"/>
    <p:sldId id="273" r:id="rId4"/>
    <p:sldId id="274" r:id="rId5"/>
    <p:sldId id="275" r:id="rId6"/>
    <p:sldId id="276" r:id="rId7"/>
    <p:sldId id="296" r:id="rId8"/>
    <p:sldId id="277" r:id="rId9"/>
    <p:sldId id="278" r:id="rId10"/>
    <p:sldId id="281" r:id="rId11"/>
    <p:sldId id="279" r:id="rId12"/>
    <p:sldId id="280" r:id="rId13"/>
    <p:sldId id="284" r:id="rId14"/>
    <p:sldId id="286" r:id="rId15"/>
    <p:sldId id="283" r:id="rId16"/>
    <p:sldId id="282" r:id="rId17"/>
    <p:sldId id="285" r:id="rId18"/>
    <p:sldId id="288" r:id="rId19"/>
    <p:sldId id="287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7" r:id="rId28"/>
    <p:sldId id="272" r:id="rId29"/>
  </p:sldIdLst>
  <p:sldSz cx="9144000" cy="5143500" type="screen16x9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C3F1"/>
    <a:srgbClr val="FED900"/>
    <a:srgbClr val="005BAC"/>
    <a:srgbClr val="FDFDFD"/>
    <a:srgbClr val="000000"/>
    <a:srgbClr val="458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4761" autoAdjust="0"/>
  </p:normalViewPr>
  <p:slideViewPr>
    <p:cSldViewPr>
      <p:cViewPr varScale="1">
        <p:scale>
          <a:sx n="111" d="100"/>
          <a:sy n="111" d="100"/>
        </p:scale>
        <p:origin x="542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94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3B2FB-0879-4B10-ADF9-ACE1AB562F47}" type="datetimeFigureOut">
              <a:rPr lang="zh-CN" altLang="en-US" smtClean="0"/>
              <a:t>2018/5/4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F751D-AFF2-49E6-A345-89C8E0835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886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67B7D-9A76-4A7E-9B9B-A85C4C4C1420}" type="datetimeFigureOut">
              <a:rPr lang="zh-CN" altLang="en-US" smtClean="0"/>
              <a:t>2018/5/4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598DB-4345-4D10-85F3-4CFCBFED2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159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3786196"/>
            <a:ext cx="5525354" cy="135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1259632" y="1889663"/>
            <a:ext cx="6624736" cy="788905"/>
          </a:xfrm>
        </p:spPr>
        <p:txBody>
          <a:bodyPr>
            <a:normAutofit/>
          </a:bodyPr>
          <a:lstStyle>
            <a:lvl1pPr marL="0" algn="ctr" defTabSz="914400" rtl="0" eaLnBrk="1" latinLnBrk="0" hangingPunct="1">
              <a:defRPr lang="zh-CN" altLang="en-US" sz="3200" kern="12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单击此处编辑主标题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0" hasCustomPrompt="1"/>
          </p:nvPr>
        </p:nvSpPr>
        <p:spPr>
          <a:xfrm>
            <a:off x="3527711" y="2859782"/>
            <a:ext cx="2088579" cy="35971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1" hasCustomPrompt="1"/>
          </p:nvPr>
        </p:nvSpPr>
        <p:spPr>
          <a:xfrm>
            <a:off x="7452320" y="4464848"/>
            <a:ext cx="952807" cy="257384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1200" kern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准圆简体" pitchFamily="2" charset="-122"/>
                <a:ea typeface="方正准圆简体" pitchFamily="2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26" name="文本占位符 24"/>
          <p:cNvSpPr>
            <a:spLocks noGrp="1"/>
          </p:cNvSpPr>
          <p:nvPr>
            <p:ph type="body" sz="quarter" idx="12" hasCustomPrompt="1"/>
          </p:nvPr>
        </p:nvSpPr>
        <p:spPr>
          <a:xfrm>
            <a:off x="7452320" y="4803998"/>
            <a:ext cx="952807" cy="257384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1200" kern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准圆简体" pitchFamily="2" charset="-122"/>
                <a:ea typeface="方正准圆简体" pitchFamily="2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日期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E1FA143C-BB40-4992-A579-EDBF4C6B97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51470"/>
            <a:ext cx="2511557" cy="159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6662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4745628"/>
            <a:ext cx="1619672" cy="397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251520" y="2047595"/>
            <a:ext cx="8640960" cy="1388251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3FA5643D-F806-46D8-BB77-59C42779D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221" y="699542"/>
            <a:ext cx="2511557" cy="15971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80544FA3-2F2E-4BAB-BF50-E49573FFE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" t="19646" r="12547" b="11594"/>
          <a:stretch/>
        </p:blipFill>
        <p:spPr>
          <a:xfrm>
            <a:off x="8460432" y="4770082"/>
            <a:ext cx="648072" cy="3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859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8D31046-1E45-4554-A774-494EFFE7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876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3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8246784-245B-4E0F-A0AB-C16548F5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99EA6FDD-9051-4D35-A381-DD5F0DCC7F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1560" y="699543"/>
            <a:ext cx="7848872" cy="381642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9790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rot="10800000">
            <a:off x="3618646" y="0"/>
            <a:ext cx="5525354" cy="135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47825" y="2139702"/>
            <a:ext cx="7848351" cy="79199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buNone/>
              <a:defRPr lang="zh-CN" altLang="en-US" sz="4800" kern="1200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B26AEDA8-2E09-4668-93D3-D53D543EE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870"/>
            <a:ext cx="2511557" cy="159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7240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0" y="4745628"/>
            <a:ext cx="1619672" cy="397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58892" y="185384"/>
            <a:ext cx="8333588" cy="298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699542"/>
            <a:ext cx="8640960" cy="3895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4697706"/>
            <a:ext cx="1584176" cy="399828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251520" y="236258"/>
            <a:ext cx="288033" cy="196387"/>
            <a:chOff x="251519" y="84537"/>
            <a:chExt cx="422447" cy="288033"/>
          </a:xfrm>
        </p:grpSpPr>
        <p:sp>
          <p:nvSpPr>
            <p:cNvPr id="16" name="等腰三角形 15"/>
            <p:cNvSpPr/>
            <p:nvPr userDrawn="1"/>
          </p:nvSpPr>
          <p:spPr>
            <a:xfrm rot="5400000">
              <a:off x="231655" y="104402"/>
              <a:ext cx="288032" cy="248303"/>
            </a:xfrm>
            <a:prstGeom prst="triangle">
              <a:avLst/>
            </a:prstGeom>
            <a:solidFill>
              <a:srgbClr val="52C3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 userDrawn="1"/>
          </p:nvSpPr>
          <p:spPr>
            <a:xfrm rot="5400000">
              <a:off x="405799" y="104401"/>
              <a:ext cx="288032" cy="248303"/>
            </a:xfrm>
            <a:prstGeom prst="triangle">
              <a:avLst/>
            </a:prstGeom>
            <a:solidFill>
              <a:srgbClr val="FED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8" r:id="rId3"/>
    <p:sldLayoutId id="2147483661" r:id="rId4"/>
    <p:sldLayoutId id="2147483660" r:id="rId5"/>
    <p:sldLayoutId id="2147483657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SLAM</a:t>
            </a:r>
            <a:r>
              <a:rPr lang="zh-CN" altLang="en-US" dirty="0" smtClean="0"/>
              <a:t>基础知识分享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高斯牛顿法解非线性优化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刘文治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2018.04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316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？有哪些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SLAM (simultaneous localization and </a:t>
            </a:r>
            <a:r>
              <a:rPr lang="en-US" altLang="zh-CN" dirty="0" smtClean="0"/>
              <a:t>mapping)</a:t>
            </a:r>
            <a:r>
              <a:rPr lang="zh-CN" altLang="en-US" dirty="0" smtClean="0"/>
              <a:t>即：实时定位与地图构建算法。</a:t>
            </a:r>
            <a:endParaRPr lang="en-US" altLang="zh-CN" dirty="0" smtClean="0"/>
          </a:p>
          <a:p>
            <a:r>
              <a:rPr lang="zh-CN" altLang="en-US" dirty="0" smtClean="0"/>
              <a:t>要素：定位、建图、实时性。</a:t>
            </a:r>
            <a:endParaRPr lang="en-US" altLang="zh-CN" dirty="0"/>
          </a:p>
          <a:p>
            <a:r>
              <a:rPr lang="zh-CN" altLang="en-US" dirty="0" smtClean="0"/>
              <a:t>扩展：</a:t>
            </a:r>
            <a:r>
              <a:rPr lang="en-US" altLang="zh-CN" dirty="0" smtClean="0"/>
              <a:t>SFM</a:t>
            </a:r>
            <a:r>
              <a:rPr lang="zh-CN" altLang="en-US" dirty="0" smtClean="0"/>
              <a:t>（</a:t>
            </a:r>
            <a:r>
              <a:rPr lang="en-US" altLang="zh-CN" dirty="0"/>
              <a:t>structure-from-motion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441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刚体运动与坐标变换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自由度：确定目标运动</a:t>
            </a:r>
            <a:r>
              <a:rPr lang="zh-CN" altLang="en-US" dirty="0"/>
              <a:t>时所必须给定的独立运动参数的</a:t>
            </a:r>
            <a:r>
              <a:rPr lang="zh-CN" altLang="en-US" dirty="0" smtClean="0"/>
              <a:t>数目。（机械）</a:t>
            </a:r>
            <a:endParaRPr lang="en-US" altLang="zh-CN" dirty="0" smtClean="0"/>
          </a:p>
          <a:p>
            <a:r>
              <a:rPr lang="zh-CN" altLang="en-US" dirty="0" smtClean="0"/>
              <a:t>点的自由度</a:t>
            </a:r>
            <a:endParaRPr lang="en-US" altLang="zh-CN" dirty="0" smtClean="0"/>
          </a:p>
          <a:p>
            <a:r>
              <a:rPr lang="zh-CN" altLang="en-US" dirty="0" smtClean="0"/>
              <a:t>例：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，描述平面内的一点，所需要的参数（</a:t>
            </a:r>
            <a:r>
              <a:rPr lang="en-US" altLang="zh-CN" dirty="0" smtClean="0"/>
              <a:t>X,Y</a:t>
            </a:r>
            <a:r>
              <a:rPr lang="zh-CN" altLang="en-US" dirty="0" smtClean="0"/>
              <a:t>）。所以平面内一点有两个自由度。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，球面上的一点有两个自由度（经纬度），空间内一点有三个自由度。（</a:t>
            </a:r>
            <a:r>
              <a:rPr lang="en-US" altLang="zh-CN" dirty="0" smtClean="0"/>
              <a:t>X,Y,Z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刚体的自由度（不只是位置，还有姿态）</a:t>
            </a:r>
            <a:endParaRPr lang="en-US" altLang="zh-CN" dirty="0" smtClean="0"/>
          </a:p>
          <a:p>
            <a:r>
              <a:rPr lang="zh-CN" altLang="en-US" dirty="0" smtClean="0"/>
              <a:t>例：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，扫地机有三个自由度。（两个移动，一个转动）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VR</a:t>
            </a:r>
            <a:r>
              <a:rPr lang="zh-CN" altLang="en-US" dirty="0" smtClean="0"/>
              <a:t>眼镜有六个自由度。（三个移动，三个转动）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16403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刚体运动与坐标变换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1560" y="519522"/>
            <a:ext cx="7848872" cy="3816424"/>
          </a:xfrm>
        </p:spPr>
        <p:txBody>
          <a:bodyPr/>
          <a:lstStyle/>
          <a:p>
            <a:r>
              <a:rPr lang="zh-CN" altLang="en-US" dirty="0" smtClean="0"/>
              <a:t>如何描述刚体的运动。</a:t>
            </a:r>
            <a:endParaRPr lang="en-US" altLang="zh-CN" dirty="0" smtClean="0"/>
          </a:p>
          <a:p>
            <a:r>
              <a:rPr lang="en-US" altLang="zh-CN" dirty="0" smtClean="0"/>
              <a:t>2D</a:t>
            </a:r>
            <a:r>
              <a:rPr lang="zh-CN" altLang="en-US" dirty="0" smtClean="0"/>
              <a:t>刚体运动（扫地机）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4997668" y="2742525"/>
            <a:ext cx="3315833" cy="6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6009243" y="726301"/>
            <a:ext cx="2" cy="2672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7085900" y="1311056"/>
            <a:ext cx="1872208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6444208" y="374952"/>
            <a:ext cx="648072" cy="158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曲线连接符 22"/>
          <p:cNvCxnSpPr/>
          <p:nvPr/>
        </p:nvCxnSpPr>
        <p:spPr>
          <a:xfrm flipV="1">
            <a:off x="6009245" y="1959128"/>
            <a:ext cx="1083035" cy="783397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8186130" y="2682456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130" y="2682456"/>
                <a:ext cx="47731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7040597" y="1481588"/>
                <a:ext cx="823623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597" y="1481588"/>
                <a:ext cx="823623" cy="318164"/>
              </a:xfrm>
              <a:prstGeom prst="rect">
                <a:avLst/>
              </a:prstGeom>
              <a:blipFill rotWithShape="0">
                <a:blip r:embed="rId3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8771520" y="1301764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520" y="1301764"/>
                <a:ext cx="477310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6009245" y="569800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245" y="569800"/>
                <a:ext cx="294311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8750" r="-4167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6501464" y="194768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464" y="194768"/>
                <a:ext cx="294311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8750" r="-4167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6028774" y="2784954"/>
                <a:ext cx="287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774" y="2784954"/>
                <a:ext cx="287579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0638" r="-4255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6751570" y="1718133"/>
                <a:ext cx="287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570" y="1718133"/>
                <a:ext cx="287579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0638" r="-4255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/>
              <p:cNvSpPr txBox="1"/>
              <p:nvPr/>
            </p:nvSpPr>
            <p:spPr>
              <a:xfrm>
                <a:off x="558892" y="1486430"/>
                <a:ext cx="43011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       2D</a:t>
                </a:r>
                <a:r>
                  <a:rPr lang="zh-CN" altLang="en-US" dirty="0" smtClean="0"/>
                  <a:t>空间刚体运动有三个自由度，可以用三个变量来描述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       </a:t>
                </a:r>
                <a:r>
                  <a:rPr lang="zh-CN" altLang="en-US" dirty="0" smtClean="0"/>
                  <a:t>例如：刚体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坐标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系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世界坐标系为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下</m:t>
                    </m:r>
                  </m:oMath>
                </a14:m>
                <a:r>
                  <a:rPr lang="zh-CN" altLang="en-US" dirty="0" smtClean="0"/>
                  <a:t>的描述为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86" name="文本框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92" y="1486430"/>
                <a:ext cx="4301140" cy="1200329"/>
              </a:xfrm>
              <a:prstGeom prst="rect">
                <a:avLst/>
              </a:prstGeom>
              <a:blipFill rotWithShape="0">
                <a:blip r:embed="rId9"/>
                <a:stretch>
                  <a:fillRect l="-1277" t="-4061" r="-1135" b="-6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/>
              <p:cNvSpPr txBox="1"/>
              <p:nvPr/>
            </p:nvSpPr>
            <p:spPr>
              <a:xfrm>
                <a:off x="7844849" y="731219"/>
                <a:ext cx="220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849" y="731219"/>
                <a:ext cx="220124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25000" r="-16667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/>
              <p:cNvSpPr txBox="1"/>
              <p:nvPr/>
            </p:nvSpPr>
            <p:spPr>
              <a:xfrm>
                <a:off x="7797615" y="615641"/>
                <a:ext cx="1298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3" name="文本框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615" y="615641"/>
                <a:ext cx="129843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9524"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/>
              <p:cNvSpPr/>
              <p:nvPr/>
            </p:nvSpPr>
            <p:spPr>
              <a:xfrm>
                <a:off x="448516" y="3514866"/>
                <a:ext cx="8327822" cy="107721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zh-CN" altLang="en-US" sz="3200" b="0" cap="none" spc="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假如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b="0" cap="none" spc="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中一点</a:t>
                </a:r>
                <a:r>
                  <a:rPr lang="en-US" altLang="zh-CN" sz="32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G</a:t>
                </a:r>
                <a:r>
                  <a:rPr lang="zh-CN" altLang="en-US" sz="3200" b="0" cap="none" spc="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200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b="0" cap="none" spc="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cap="none" spc="0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cap="none" spc="0" dirty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200" i="1" dirty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b="0" cap="none" spc="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），那么它在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坐标</m:t>
                    </m:r>
                  </m:oMath>
                </a14:m>
                <a:r>
                  <a:rPr lang="zh-CN" altLang="en-US" sz="3200" b="0" cap="none" spc="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系下的描述是什么呢</a:t>
                </a:r>
                <a:r>
                  <a:rPr lang="zh-CN" altLang="en-US" sz="32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？</a:t>
                </a:r>
                <a:endParaRPr lang="zh-CN" alt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95" name="矩形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16" y="3514866"/>
                <a:ext cx="8327822" cy="1077218"/>
              </a:xfrm>
              <a:prstGeom prst="rect">
                <a:avLst/>
              </a:prstGeom>
              <a:blipFill rotWithShape="0">
                <a:blip r:embed="rId12"/>
                <a:stretch>
                  <a:fillRect l="-2050" t="-10795" r="-2196" b="-19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接连接符 96"/>
          <p:cNvCxnSpPr/>
          <p:nvPr/>
        </p:nvCxnSpPr>
        <p:spPr>
          <a:xfrm>
            <a:off x="7092280" y="1959128"/>
            <a:ext cx="161646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/>
              <p:cNvSpPr txBox="1"/>
              <p:nvPr/>
            </p:nvSpPr>
            <p:spPr>
              <a:xfrm>
                <a:off x="7450627" y="1770208"/>
                <a:ext cx="2006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9" name="文本框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27" y="1770208"/>
                <a:ext cx="200696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24242" r="-21212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4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刚体运动与坐标变换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齐次变换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4479158" y="2635067"/>
            <a:ext cx="3315833" cy="6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5477452" y="618844"/>
            <a:ext cx="13283" cy="2325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5490735" y="1986995"/>
            <a:ext cx="216024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4842663" y="762859"/>
            <a:ext cx="648072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6567390" y="1203598"/>
            <a:ext cx="1872208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5925698" y="267494"/>
            <a:ext cx="648072" cy="158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981134" y="2390332"/>
                <a:ext cx="3853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134" y="2390332"/>
                <a:ext cx="385362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曲线连接符 11"/>
          <p:cNvCxnSpPr/>
          <p:nvPr/>
        </p:nvCxnSpPr>
        <p:spPr>
          <a:xfrm flipV="1">
            <a:off x="5490735" y="1851670"/>
            <a:ext cx="1083035" cy="783397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7667620" y="2574998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620" y="2574998"/>
                <a:ext cx="47731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697016" y="1943736"/>
                <a:ext cx="823623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016" y="1943736"/>
                <a:ext cx="823623" cy="318164"/>
              </a:xfrm>
              <a:prstGeom prst="rect">
                <a:avLst/>
              </a:prstGeom>
              <a:blipFill rotWithShape="0">
                <a:blip r:embed="rId4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7474018" y="1943736"/>
                <a:ext cx="4719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18" y="1943736"/>
                <a:ext cx="47198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490735" y="462342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35" y="462342"/>
                <a:ext cx="294311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8750" r="-4167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4863571" y="554249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571" y="554249"/>
                <a:ext cx="294311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6667" r="-4167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982954" y="87310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954" y="87310"/>
                <a:ext cx="294311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8367" r="-4082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5510264" y="2677496"/>
                <a:ext cx="287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264" y="2677496"/>
                <a:ext cx="287579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0638" r="-425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5131260" y="2328034"/>
                <a:ext cx="287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260" y="2328034"/>
                <a:ext cx="287579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8511" r="-4255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6233060" y="1610675"/>
                <a:ext cx="287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060" y="1610675"/>
                <a:ext cx="287579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0417" r="-4167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/>
          <p:cNvCxnSpPr/>
          <p:nvPr/>
        </p:nvCxnSpPr>
        <p:spPr>
          <a:xfrm flipV="1">
            <a:off x="5490734" y="2309862"/>
            <a:ext cx="1083036" cy="331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5186094" y="1746520"/>
            <a:ext cx="296318" cy="867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186094" y="1746520"/>
            <a:ext cx="32417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490733" y="2309862"/>
            <a:ext cx="1029906" cy="518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186094" y="1746520"/>
            <a:ext cx="0" cy="93097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553252" y="2309862"/>
            <a:ext cx="0" cy="3316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5482412" y="2283719"/>
            <a:ext cx="8322" cy="351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5490733" y="1707654"/>
            <a:ext cx="0" cy="933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5157882" y="2641492"/>
            <a:ext cx="332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490733" y="2641492"/>
            <a:ext cx="10830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7326339" y="623761"/>
                <a:ext cx="220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339" y="623761"/>
                <a:ext cx="220124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25000" r="-16667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7279105" y="508183"/>
                <a:ext cx="1298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105" y="508183"/>
                <a:ext cx="129843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9524"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6533920" y="2281829"/>
                <a:ext cx="1002903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920" y="2281829"/>
                <a:ext cx="1002903" cy="318677"/>
              </a:xfrm>
              <a:prstGeom prst="rect">
                <a:avLst/>
              </a:prstGeom>
              <a:blipFill rotWithShape="0">
                <a:blip r:embed="rId14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4043730" y="1587180"/>
                <a:ext cx="1142364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，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730" y="1587180"/>
                <a:ext cx="1142364" cy="318677"/>
              </a:xfrm>
              <a:prstGeom prst="rect">
                <a:avLst/>
              </a:prstGeom>
              <a:blipFill rotWithShape="0">
                <a:blip r:embed="rId15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683568" y="1170927"/>
                <a:ext cx="33641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假如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相对于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逆时针</m:t>
                    </m:r>
                  </m:oMath>
                </a14:m>
                <a:r>
                  <a:rPr lang="zh-CN" altLang="en-US" dirty="0" smtClean="0"/>
                  <a:t>旋转了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则用一个旋转矩阵</a:t>
                </a:r>
                <a:r>
                  <a:rPr lang="en-US" altLang="zh-CN" dirty="0" smtClean="0"/>
                  <a:t>R</a:t>
                </a:r>
                <a:r>
                  <a:rPr lang="zh-CN" altLang="en-US" dirty="0" smtClean="0"/>
                  <a:t>来表示：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170927"/>
                <a:ext cx="3364153" cy="646331"/>
              </a:xfrm>
              <a:prstGeom prst="rect">
                <a:avLst/>
              </a:prstGeom>
              <a:blipFill rotWithShape="0">
                <a:blip r:embed="rId16"/>
                <a:stretch>
                  <a:fillRect l="-1449" t="-6604" r="-8514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836156" y="1978269"/>
                <a:ext cx="2535302" cy="113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/>
                  <a:t>R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中的点在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dirty="0" smtClean="0"/>
                  <a:t>的描述为：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= R</a:t>
                </a:r>
                <a:r>
                  <a:rPr lang="zh-CN" altLang="en-US" dirty="0" smtClean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56" y="1978269"/>
                <a:ext cx="2535302" cy="1139992"/>
              </a:xfrm>
              <a:prstGeom prst="rect">
                <a:avLst/>
              </a:prstGeom>
              <a:blipFill rotWithShape="0">
                <a:blip r:embed="rId17"/>
                <a:stretch>
                  <a:fillRect l="-1923" b="-8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/>
              <p:cNvSpPr txBox="1"/>
              <p:nvPr/>
            </p:nvSpPr>
            <p:spPr>
              <a:xfrm>
                <a:off x="611560" y="3185150"/>
                <a:ext cx="8136904" cy="1660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 smtClean="0"/>
                  <a:t>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坐标</m:t>
                    </m:r>
                  </m:oMath>
                </a14:m>
                <a:r>
                  <a:rPr lang="zh-CN" altLang="en-US" dirty="0" smtClean="0"/>
                  <a:t>系下平移到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又</m:t>
                    </m:r>
                  </m:oMath>
                </a14:m>
                <a:r>
                  <a:rPr lang="zh-CN" altLang="en-US" dirty="0" smtClean="0"/>
                  <a:t>该如何描述呢？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R</a:t>
                </a:r>
                <a:r>
                  <a:rPr lang="zh-CN" altLang="en-US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+ t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转换成其次坐标形式：</a:t>
                </a:r>
                <a:endParaRPr lang="en-US" altLang="zh-CN" dirty="0"/>
              </a:p>
              <a:p>
                <a:r>
                  <a:rPr lang="en-US" altLang="zh-CN" dirty="0" smtClean="0"/>
                  <a:t>T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/>
                  <a:t>，此时坐标系中的点也用其次形式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r>
                  <a:rPr lang="zh-CN" altLang="en-US" dirty="0" smtClean="0"/>
                  <a:t>用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齐次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形式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描述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坐标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变换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</a:t>
                </a:r>
                <a:r>
                  <a:rPr lang="en-US" altLang="zh-CN" dirty="0" smtClean="0"/>
                  <a:t>T</a:t>
                </a:r>
                <a:r>
                  <a:rPr lang="zh-CN" altLang="en-US" dirty="0" smtClean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185150"/>
                <a:ext cx="8136904" cy="1660391"/>
              </a:xfrm>
              <a:prstGeom prst="rect">
                <a:avLst/>
              </a:prstGeom>
              <a:blipFill rotWithShape="0">
                <a:blip r:embed="rId18"/>
                <a:stretch>
                  <a:fillRect l="-599" t="-2564"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箭头连接符 44"/>
          <p:cNvCxnSpPr/>
          <p:nvPr/>
        </p:nvCxnSpPr>
        <p:spPr>
          <a:xfrm flipH="1" flipV="1">
            <a:off x="6570104" y="218940"/>
            <a:ext cx="7331" cy="16179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6580149" y="1817258"/>
            <a:ext cx="1966107" cy="4431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58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刚体运动与坐标变换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引申到三维环境下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旋转矩阵：</a:t>
                </a:r>
                <a:r>
                  <a:rPr lang="en-US" altLang="zh-CN" dirty="0" smtClean="0"/>
                  <a:t>R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平移向量：</a:t>
                </a:r>
                <a:r>
                  <a:rPr lang="en-US" altLang="zh-CN" dirty="0" smtClean="0"/>
                  <a:t>t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齐</a:t>
                </a:r>
                <a:r>
                  <a:rPr lang="zh-CN" altLang="en-US" dirty="0" smtClean="0"/>
                  <a:t>次变换形式：</a:t>
                </a:r>
                <a:r>
                  <a:rPr lang="en-US" altLang="zh-CN" dirty="0" smtClean="0"/>
                  <a:t>T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/>
                  <a:t>，坐标点表示：</a:t>
                </a:r>
                <a:r>
                  <a:rPr lang="en-US" altLang="zh-CN" dirty="0" smtClean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由于旋转矩阵中变量冗余，如果用旋转矩阵形式去做优化问题会带来额外的约束，所以在</a:t>
                </a:r>
                <a:r>
                  <a:rPr lang="en-US" altLang="zh-CN" dirty="0" smtClean="0"/>
                  <a:t>slam</a:t>
                </a:r>
                <a:r>
                  <a:rPr lang="zh-CN" altLang="en-US" dirty="0" smtClean="0"/>
                  <a:t>中引入了李代数的概念，三维刚体运动李代数的表示为一个六维向量。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box>
                      <m:box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</m:func>
                      </m:e>
                    </m:box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2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13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刚体运动与坐标变换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>
                    <a:latin typeface="Cambria Math" panose="02040503050406030204" pitchFamily="18" charset="0"/>
                  </a:rPr>
                  <a:t>常用方法</a:t>
                </a:r>
                <a:endParaRPr lang="en-US" altLang="zh-CN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b="0" dirty="0" smtClean="0"/>
              </a:p>
              <a:p>
                <a:r>
                  <a:rPr lang="zh-CN" altLang="en-US" b="0" dirty="0" smtClean="0"/>
                  <a:t>令：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dirty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b="0" dirty="0" smtClean="0"/>
              </a:p>
              <a:p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53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非线性优化（最小二乘的引出）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用</a:t>
                </a:r>
                <a:r>
                  <a:rPr lang="en-US" altLang="zh-CN" dirty="0" smtClean="0"/>
                  <a:t>TF mini</a:t>
                </a:r>
                <a:r>
                  <a:rPr lang="zh-CN" altLang="en-US" dirty="0" smtClean="0"/>
                  <a:t>多次测量一距离值得到一组数据</a:t>
                </a:r>
                <a:r>
                  <a:rPr lang="en-US" altLang="zh-CN" dirty="0" smtClean="0"/>
                  <a:t>X</a:t>
                </a:r>
                <a:r>
                  <a:rPr lang="zh-CN" altLang="en-US" dirty="0" smtClean="0"/>
                  <a:t>，但是由于传感器有噪声，每次测量都不能得到一个真实距离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 smtClean="0"/>
                  <a:t>，如何根据不准确的数据求得一个最接近真实的距离？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53344" y="2148994"/>
                <a:ext cx="7704856" cy="1364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构建数学模型：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观测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条件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概率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模型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那我们现在计算使它最大化的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 smtClean="0"/>
                  <a:t>的取值。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根据贝叶斯公式可得：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zh-CN" altLang="en-US" dirty="0"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则：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𝑎𝑟𝑔𝑚𝑎𝑥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44" y="2148994"/>
                <a:ext cx="7704856" cy="1364541"/>
              </a:xfrm>
              <a:prstGeom prst="rect">
                <a:avLst/>
              </a:prstGeom>
              <a:blipFill rotWithShape="0">
                <a:blip r:embed="rId3"/>
                <a:stretch>
                  <a:fillRect l="-712" b="-5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59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非线性优化（最小二乘的引出）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求：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𝑎𝑟𝑔𝑚𝑎𝑥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（利用最大似然估计）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𝑎𝑟𝑔𝑚𝑎𝑥</m:t>
                    </m:r>
                    <m:nary>
                      <m:naryPr>
                        <m:chr m:val="∏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𝑎𝑟𝑔𝑚𝑖𝑛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∏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𝑎𝑟𝑔𝑚𝑖𝑛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𝑎𝑟𝑔𝑚𝑖𝑛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𝑎𝑟𝑔𝑚𝑖𝑛</m:t>
                    </m:r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 smtClean="0"/>
                  <a:t>       令：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𝑎𝑟𝑔𝑚𝑖𝑛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2716" b="-14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7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</a:t>
            </a:r>
            <a:r>
              <a:rPr lang="zh-CN" altLang="en-US" dirty="0"/>
              <a:t>解</a:t>
            </a:r>
            <a:r>
              <a:rPr lang="zh-CN" altLang="en-US" dirty="0" smtClean="0"/>
              <a:t>最小二乘）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最小二乘问题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（目标函数）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解此问题其实就是求解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此方程的结果就是最小二乘函数导数为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的点。（注意此点有可能是极大，极小或鞍点处的值）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对于不方便直接求解的最小二乘问题可以用迭代法求解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r="-3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83568" y="2859782"/>
                <a:ext cx="765235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，给定初始值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，对于第</a:t>
                </a:r>
                <a:r>
                  <a:rPr lang="en-US" altLang="zh-CN" dirty="0" smtClean="0"/>
                  <a:t>k</a:t>
                </a:r>
                <a:r>
                  <a:rPr lang="zh-CN" altLang="en-US" dirty="0" smtClean="0"/>
                  <a:t>次迭代，寻找一个增量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+∆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向极小值靠近。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，若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 smtClean="0"/>
                  <a:t>足够小，则停止。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，否则，令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，返回第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步。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859782"/>
                <a:ext cx="7652351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637" t="-3553" b="-7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69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非线性优化（梯度法）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求解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求解增量最直观的方法是将目标函数在</a:t>
                </a:r>
                <a:r>
                  <a:rPr lang="en-US" altLang="zh-CN" dirty="0" smtClean="0"/>
                  <a:t>x</a:t>
                </a:r>
                <a:r>
                  <a:rPr lang="zh-CN" altLang="en-US" dirty="0" smtClean="0"/>
                  <a:t>附近进行泰勒展开：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+∆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 smtClean="0">
                  <a:ea typeface="Cambria Math" panose="02040503050406030204" pitchFamily="18" charset="0"/>
                </a:endParaRPr>
              </a:p>
              <a:p>
                <a:r>
                  <a:rPr lang="zh-CN" altLang="en-US" dirty="0" smtClean="0"/>
                  <a:t>如果只保留一阶</a:t>
                </a:r>
                <a:r>
                  <a:rPr lang="zh-CN" altLang="en-US" dirty="0"/>
                  <a:t>梯</a:t>
                </a:r>
                <a:r>
                  <a:rPr lang="zh-CN" altLang="en-US" dirty="0" smtClean="0"/>
                  <a:t>度，那么增量的解为：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这种方法很直观，就是沿着负梯度的方向去搜索，一般情况下我们还在该方向上加入步长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 smtClean="0"/>
                  <a:t>，这种方法也被称之为</a:t>
                </a:r>
                <a:r>
                  <a:rPr lang="zh-CN" altLang="en-US" b="1" dirty="0" smtClean="0">
                    <a:solidFill>
                      <a:srgbClr val="FF0000"/>
                    </a:solidFill>
                  </a:rPr>
                  <a:t>最速下降法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如果保留二阶梯度，那么增量解为：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此方法也比较直观，沿着二次化方程最小值的位置搜索，这种方法被称为</a:t>
                </a:r>
                <a:r>
                  <a:rPr lang="zh-CN" altLang="en-US" b="1" dirty="0" smtClean="0">
                    <a:solidFill>
                      <a:srgbClr val="FF0000"/>
                    </a:solidFill>
                  </a:rPr>
                  <a:t>牛顿法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40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非线性优化（高斯牛顿法）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高斯牛顿法是最优化方法中最简单的方法之一，它的思想是将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dirty="0" smtClean="0"/>
                  <a:t>一阶泰勒展开：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当前的目标是寻找下降矢量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展开目标函数：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求上式关于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 smtClean="0"/>
                  <a:t>导数，并令其为零可得：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	</a:t>
                </a:r>
                <a:r>
                  <a:rPr lang="en-US" altLang="zh-CN" dirty="0" smtClean="0"/>
                  <a:t>	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66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非线性优化（高斯牛顿法）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左侧</m:t>
                    </m:r>
                  </m:oMath>
                </a14:m>
                <a:r>
                  <a:rPr lang="zh-CN" altLang="en-US" dirty="0" smtClean="0"/>
                  <a:t>的系数为</a:t>
                </a:r>
                <a:r>
                  <a:rPr lang="en-US" altLang="zh-CN" dirty="0" smtClean="0"/>
                  <a:t>H</a:t>
                </a:r>
                <a:r>
                  <a:rPr lang="zh-CN" altLang="en-US" dirty="0" smtClean="0"/>
                  <a:t>，等号右侧为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，则上式简化为：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则：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83568" y="2499742"/>
                <a:ext cx="77048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，给定初值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，对于第</a:t>
                </a:r>
                <a:r>
                  <a:rPr lang="en-US" altLang="zh-CN" dirty="0" smtClean="0"/>
                  <a:t>k</a:t>
                </a:r>
                <a:r>
                  <a:rPr lang="zh-CN" altLang="en-US" dirty="0" smtClean="0"/>
                  <a:t>次迭代，求出当前的雅克比矩阵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CN" altLang="en-US" dirty="0" smtClean="0"/>
                  <a:t>误差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，求解增量方程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dirty="0"/>
              </a:p>
              <a:p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，若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 smtClean="0"/>
                  <a:t>足够小，停止。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5</a:t>
                </a:r>
                <a:r>
                  <a:rPr lang="zh-CN" altLang="en-US" dirty="0" smtClean="0"/>
                  <a:t>，否则，令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返回第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步。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99742"/>
                <a:ext cx="7704856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633" t="-2893" b="-6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04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非线性优化（例子）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线性拟合</a:t>
            </a:r>
            <a:endParaRPr lang="en-US" altLang="zh-CN" dirty="0" smtClean="0"/>
          </a:p>
          <a:p>
            <a:r>
              <a:rPr lang="zh-CN" altLang="en-US" dirty="0" smtClean="0"/>
              <a:t>已知：离散点，函数类型</a:t>
            </a:r>
            <a:endParaRPr lang="en-US" altLang="zh-CN" dirty="0" smtClean="0"/>
          </a:p>
          <a:p>
            <a:r>
              <a:rPr lang="zh-CN" altLang="en-US" dirty="0" smtClean="0"/>
              <a:t>求：拟合函数（斜率截距）</a:t>
            </a:r>
            <a:endParaRPr lang="en-US" altLang="zh-CN" dirty="0" smtClean="0"/>
          </a:p>
          <a:p>
            <a:r>
              <a:rPr lang="zh-CN" altLang="en-US" dirty="0" smtClean="0"/>
              <a:t>利用高斯牛顿法优化</a:t>
            </a:r>
            <a:endParaRPr lang="en-US" altLang="zh-CN" dirty="0" smtClean="0"/>
          </a:p>
          <a:p>
            <a:r>
              <a:rPr lang="zh-CN" altLang="en-US" dirty="0" smtClean="0"/>
              <a:t>优化变量：</a:t>
            </a:r>
            <a:r>
              <a:rPr lang="en-US" altLang="zh-CN" dirty="0"/>
              <a:t>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5384"/>
            <a:ext cx="4565861" cy="2384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11560" y="2859782"/>
                <a:ext cx="7848872" cy="1492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，给定初值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，求残差函数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求雅克比矩阵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，如果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zh-CN" altLang="en-US" dirty="0" smtClean="0"/>
                  <a:t>足够小，停止迭代。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5</a:t>
                </a:r>
                <a:r>
                  <a:rPr lang="zh-CN" altLang="en-US" dirty="0" smtClean="0"/>
                  <a:t>，否则，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∆(2,1)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859782"/>
                <a:ext cx="7848872" cy="1492460"/>
              </a:xfrm>
              <a:prstGeom prst="rect">
                <a:avLst/>
              </a:prstGeom>
              <a:blipFill rotWithShape="0">
                <a:blip r:embed="rId3"/>
                <a:stretch>
                  <a:fillRect l="-621" t="-285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11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Slam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按照传感器的不同分视觉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，激光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按照姿态估计量和地图构建信息分</a:t>
            </a:r>
            <a:r>
              <a:rPr lang="en-US" altLang="zh-CN" dirty="0" smtClean="0"/>
              <a:t>2Dslam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3Dslam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Slam</a:t>
            </a:r>
            <a:r>
              <a:rPr lang="zh-CN" altLang="en-US" dirty="0" smtClean="0"/>
              <a:t>主要包含：前端里程计部分，后端优化部分。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347864" y="2355726"/>
            <a:ext cx="22621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里程计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35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激光里程计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已知</a:t>
            </a:r>
            <a:r>
              <a:rPr lang="zh-CN" altLang="en-US" dirty="0"/>
              <a:t>：</a:t>
            </a:r>
            <a:r>
              <a:rPr lang="zh-CN" altLang="en-US" dirty="0" smtClean="0"/>
              <a:t>两个相近点云</a:t>
            </a:r>
            <a:endParaRPr lang="en-US" altLang="zh-CN" dirty="0" smtClean="0"/>
          </a:p>
          <a:p>
            <a:r>
              <a:rPr lang="zh-CN" altLang="en-US" dirty="0" smtClean="0"/>
              <a:t>求：两</a:t>
            </a:r>
            <a:r>
              <a:rPr lang="zh-CN" altLang="en-US" dirty="0"/>
              <a:t>点云间</a:t>
            </a:r>
            <a:r>
              <a:rPr lang="zh-CN" altLang="en-US" dirty="0" smtClean="0"/>
              <a:t>的坐标系变换</a:t>
            </a:r>
            <a:endParaRPr lang="en-US" altLang="zh-CN" dirty="0" smtClean="0"/>
          </a:p>
          <a:p>
            <a:r>
              <a:rPr lang="zh-CN" altLang="en-US" dirty="0" smtClean="0"/>
              <a:t>点云帧间匹配方法（</a:t>
            </a:r>
            <a:r>
              <a:rPr lang="en-US" altLang="zh-CN" dirty="0" err="1" smtClean="0"/>
              <a:t>icp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ndt</a:t>
            </a:r>
            <a:r>
              <a:rPr lang="zh-CN" altLang="en-US" dirty="0" smtClean="0"/>
              <a:t>等）</a:t>
            </a:r>
            <a:endParaRPr lang="en-US" altLang="zh-CN" dirty="0" smtClean="0"/>
          </a:p>
          <a:p>
            <a:r>
              <a:rPr lang="en-US" altLang="zh-CN" dirty="0" err="1" smtClean="0"/>
              <a:t>icp</a:t>
            </a:r>
            <a:r>
              <a:rPr lang="zh-CN" altLang="en-US" dirty="0" smtClean="0"/>
              <a:t>方法：点到点匹配，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            </a:t>
            </a:r>
            <a:r>
              <a:rPr lang="zh-CN" altLang="en-US" dirty="0" smtClean="0"/>
              <a:t>点到线匹配，点到面匹配</a:t>
            </a:r>
            <a:endParaRPr lang="en-US" altLang="zh-CN" dirty="0" smtClean="0"/>
          </a:p>
          <a:p>
            <a:r>
              <a:rPr lang="zh-CN" altLang="en-US" dirty="0" smtClean="0"/>
              <a:t>讨论经典的点到点的匹配方法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51470"/>
            <a:ext cx="4059155" cy="30443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83568" y="2936737"/>
                <a:ext cx="700704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计算蓝色到红色点云的变换。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，找到在当前变换中，蓝色点云中所有点到红色点云的最近点对。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，根据对应点对，构建以距离为残差的最小二乘问题。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，求出最小二乘问题中的最优变换解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，如果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 smtClean="0"/>
                  <a:t>足够小，则停止。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5</a:t>
                </a:r>
                <a:r>
                  <a:rPr lang="zh-CN" altLang="en-US" dirty="0" smtClean="0"/>
                  <a:t>，否则，计算新的变换，返回第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步。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936737"/>
                <a:ext cx="7007046" cy="1754326"/>
              </a:xfrm>
              <a:prstGeom prst="rect">
                <a:avLst/>
              </a:prstGeom>
              <a:blipFill rotWithShape="0">
                <a:blip r:embed="rId3"/>
                <a:stretch>
                  <a:fillRect l="-696" t="-2778" b="-4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82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激光里程计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icp</a:t>
                </a:r>
                <a:r>
                  <a:rPr lang="zh-CN" altLang="en-US" dirty="0" smtClean="0"/>
                  <a:t>中的非线性优化问题。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优化变量：李代数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zh-CN" altLang="en-US" dirty="0" smtClean="0"/>
                  <a:t>。（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残差函数：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altLang="zh-CN" dirty="0" smtClean="0"/>
                  <a:t>   </a:t>
                </a:r>
                <a:r>
                  <a:rPr lang="zh-CN" altLang="en-US" dirty="0" smtClean="0"/>
                  <a:t>（是一个</a:t>
                </a:r>
                <a:r>
                  <a:rPr lang="en-US" altLang="zh-CN" dirty="0" smtClean="0"/>
                  <a:t>3*1</a:t>
                </a:r>
                <a:r>
                  <a:rPr lang="zh-CN" altLang="en-US" dirty="0" smtClean="0"/>
                  <a:t>的向量）</a:t>
                </a:r>
                <a:endParaRPr lang="en-US" altLang="zh-CN" dirty="0" smtClean="0"/>
              </a:p>
              <a:p>
                <a:r>
                  <a:rPr lang="zh-CN" altLang="en-US" dirty="0"/>
                  <a:t>雅克</a:t>
                </a:r>
                <a:r>
                  <a:rPr lang="zh-CN" altLang="en-US" dirty="0" smtClean="0"/>
                  <a:t>比矩阵：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num>
                      <m:den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den>
                    </m:f>
                  </m:oMath>
                </a14:m>
                <a:r>
                  <a:rPr lang="zh-CN" altLang="en-US" dirty="0" smtClean="0"/>
                  <a:t>   （是一个</a:t>
                </a:r>
                <a:r>
                  <a:rPr lang="en-US" altLang="zh-CN" dirty="0" smtClean="0"/>
                  <a:t>3*6</a:t>
                </a:r>
                <a:r>
                  <a:rPr lang="zh-CN" altLang="en-US" dirty="0" smtClean="0"/>
                  <a:t>的矩阵）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计算步长：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6∗1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6∗3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3∗6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6∗3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3∗1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二维激光</a:t>
                </a:r>
                <a:r>
                  <a:rPr lang="en-US" altLang="zh-CN" dirty="0" smtClean="0"/>
                  <a:t>slam</a:t>
                </a:r>
                <a:r>
                  <a:rPr lang="zh-CN" altLang="en-US" dirty="0" smtClean="0"/>
                  <a:t>常见算法：</a:t>
                </a:r>
                <a:r>
                  <a:rPr lang="en-US" altLang="zh-CN" dirty="0" err="1" smtClean="0"/>
                  <a:t>Gmapping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hector slam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cartographer</a:t>
                </a:r>
              </a:p>
              <a:p>
                <a:r>
                  <a:rPr lang="zh-CN" altLang="en-US" dirty="0" smtClean="0"/>
                  <a:t>三维激光</a:t>
                </a:r>
                <a:r>
                  <a:rPr lang="en-US" altLang="zh-CN" dirty="0" smtClean="0"/>
                  <a:t>slam</a:t>
                </a:r>
                <a:r>
                  <a:rPr lang="zh-CN" altLang="en-US" dirty="0" smtClean="0"/>
                  <a:t>常见算法：</a:t>
                </a:r>
                <a:r>
                  <a:rPr lang="en-US" altLang="zh-CN" dirty="0" smtClean="0"/>
                  <a:t>loam</a:t>
                </a:r>
                <a:r>
                  <a:rPr lang="zh-CN" altLang="en-US" dirty="0" smtClean="0"/>
                  <a:t>，</a:t>
                </a:r>
                <a:r>
                  <a:rPr lang="en-US" altLang="zh-CN" dirty="0" err="1" smtClean="0"/>
                  <a:t>vloam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92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视觉里程计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相机模型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相机坐标系下的三维点投影到</a:t>
                </a:r>
                <a:r>
                  <a:rPr lang="en-US" altLang="zh-CN" dirty="0" err="1" smtClean="0"/>
                  <a:t>cmos</a:t>
                </a:r>
                <a:r>
                  <a:rPr lang="zh-CN" altLang="en-US" dirty="0" smtClean="0"/>
                  <a:t>上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/>
                  <a:t>                令：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/>
                  <a:t>（内参）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归一化处理后：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习惯性表示为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err="1"/>
                  <a:t>c</a:t>
                </a:r>
                <a:r>
                  <a:rPr lang="en-US" altLang="zh-CN" dirty="0" err="1" smtClean="0"/>
                  <a:t>mos</a:t>
                </a:r>
                <a:r>
                  <a:rPr lang="zh-CN" altLang="en-US" dirty="0" smtClean="0"/>
                  <a:t>上的点反投影到相机坐标系下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 smtClean="0"/>
                  <a:t>  其中</a:t>
                </a:r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为此像素点的深度值。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61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视觉</a:t>
            </a:r>
            <a:r>
              <a:rPr lang="zh-CN" altLang="en-US" dirty="0" smtClean="0"/>
              <a:t>里程计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特征点法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已知：两相邻帧图像的特征点对及参考帧对应特征点的深度</a:t>
            </a:r>
            <a:endParaRPr lang="en-US" altLang="zh-CN" dirty="0" smtClean="0"/>
          </a:p>
          <a:p>
            <a:r>
              <a:rPr lang="zh-CN" altLang="en-US" dirty="0" smtClean="0"/>
              <a:t>求：两帧图像间的坐标系变换</a:t>
            </a:r>
            <a:endParaRPr lang="en-US" altLang="zh-CN" dirty="0" smtClean="0"/>
          </a:p>
          <a:p>
            <a:r>
              <a:rPr lang="zh-CN" altLang="en-US" dirty="0" smtClean="0"/>
              <a:t>应用：</a:t>
            </a:r>
            <a:r>
              <a:rPr lang="en-US" altLang="zh-CN" dirty="0" smtClean="0"/>
              <a:t>Bundle Adjustment</a:t>
            </a:r>
            <a:r>
              <a:rPr lang="zh-CN" altLang="en-US" dirty="0" smtClean="0"/>
              <a:t>（光束平差法）</a:t>
            </a:r>
            <a:endParaRPr lang="en-US" altLang="zh-CN" dirty="0" smtClean="0"/>
          </a:p>
          <a:p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45" y="2490999"/>
            <a:ext cx="4164768" cy="16561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215" y="1837369"/>
            <a:ext cx="4667132" cy="286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6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视觉里程计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特征点法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lvl="0"/>
                <a:r>
                  <a:rPr lang="en-US" altLang="zh-CN" dirty="0" smtClean="0">
                    <a:solidFill>
                      <a:prstClr val="black"/>
                    </a:solidFill>
                  </a:rPr>
                  <a:t>BA</a:t>
                </a:r>
                <a:r>
                  <a:rPr lang="zh-CN" altLang="en-US" dirty="0" smtClean="0">
                    <a:solidFill>
                      <a:prstClr val="black"/>
                    </a:solidFill>
                  </a:rPr>
                  <a:t>优化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zh-CN" altLang="en-US" dirty="0">
                    <a:solidFill>
                      <a:prstClr val="black"/>
                    </a:solidFill>
                  </a:rPr>
                  <a:t>优化变量：李代数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。（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）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zh-CN" altLang="en-US" dirty="0">
                    <a:solidFill>
                      <a:prstClr val="black"/>
                    </a:solidFill>
                  </a:rPr>
                  <a:t>残差函数：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>
                    <a:solidFill>
                      <a:prstClr val="black"/>
                    </a:solidFill>
                  </a:rPr>
                  <a:t>          </a:t>
                </a:r>
                <a:r>
                  <a:rPr lang="zh-CN" altLang="en-US" dirty="0" smtClean="0">
                    <a:solidFill>
                      <a:prstClr val="black"/>
                    </a:solidFill>
                  </a:rPr>
                  <a:t>（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2∗1</m:t>
                        </m:r>
                      </m:e>
                    </m:d>
                  </m:oMath>
                </a14:m>
                <a:r>
                  <a:rPr lang="zh-CN" altLang="en-US" dirty="0" smtClean="0">
                    <a:solidFill>
                      <a:prstClr val="black"/>
                    </a:solidFill>
                  </a:rPr>
                  <a:t>）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sSup>
                      <m:sSup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zh-CN" altLang="en-US" dirty="0">
                    <a:solidFill>
                      <a:prstClr val="black"/>
                    </a:solidFill>
                  </a:rPr>
                  <a:t>雅克比矩阵：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num>
                      <m:den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𝜕𝜉</m:t>
                        </m:r>
                      </m:den>
                    </m:f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𝜕𝜉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prstClr val="black"/>
                    </a:solidFill>
                  </a:rPr>
                  <a:t>      </a:t>
                </a:r>
                <a:r>
                  <a:rPr lang="zh-CN" altLang="en-US" dirty="0" smtClean="0">
                    <a:solidFill>
                      <a:prstClr val="black"/>
                    </a:solidFill>
                  </a:rPr>
                  <a:t>（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2∗3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3∗6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）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zh-CN" altLang="en-US" dirty="0">
                    <a:solidFill>
                      <a:prstClr val="black"/>
                    </a:solidFill>
                  </a:rPr>
                  <a:t>计算步长：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6∗1</m:t>
                        </m:r>
                      </m:e>
                    </m:d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6∗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∗6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6∗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∗1</m:t>
                        </m:r>
                      </m:e>
                    </m:d>
                  </m:oMath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zh-CN" altLang="en-US" dirty="0" smtClean="0">
                    <a:solidFill>
                      <a:prstClr val="black"/>
                    </a:solidFill>
                  </a:rPr>
                  <a:t>常见特征点法</a:t>
                </a:r>
                <a:r>
                  <a:rPr lang="en-US" altLang="zh-CN" dirty="0" smtClean="0">
                    <a:solidFill>
                      <a:prstClr val="black"/>
                    </a:solidFill>
                  </a:rPr>
                  <a:t>slam</a:t>
                </a:r>
                <a:r>
                  <a:rPr lang="zh-CN" altLang="en-US" dirty="0" smtClean="0">
                    <a:solidFill>
                      <a:prstClr val="black"/>
                    </a:solidFill>
                  </a:rPr>
                  <a:t>：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orb</a:t>
                </a:r>
                <a:r>
                  <a:rPr lang="en-US" altLang="zh-CN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slam</a:t>
                </a:r>
                <a:r>
                  <a:rPr lang="zh-CN" altLang="en-US" dirty="0" smtClean="0">
                    <a:solidFill>
                      <a:prstClr val="black"/>
                    </a:solidFill>
                  </a:rPr>
                  <a:t>，</a:t>
                </a:r>
                <a:r>
                  <a:rPr lang="en-US" altLang="zh-CN" dirty="0" err="1" smtClean="0">
                    <a:solidFill>
                      <a:prstClr val="black"/>
                    </a:solidFill>
                  </a:rPr>
                  <a:t>ptam</a:t>
                </a:r>
                <a:r>
                  <a:rPr lang="en-US" altLang="zh-CN" dirty="0" smtClean="0">
                    <a:solidFill>
                      <a:prstClr val="black"/>
                    </a:solidFill>
                  </a:rPr>
                  <a:t> slam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41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视觉里程计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直接法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已知：两相邻帧图像及参考帧的图像深度</a:t>
            </a:r>
            <a:endParaRPr lang="en-US" altLang="zh-CN" dirty="0" smtClean="0"/>
          </a:p>
          <a:p>
            <a:r>
              <a:rPr lang="zh-CN" altLang="en-US" dirty="0" smtClean="0"/>
              <a:t>求：两帧图像的坐标系变换</a:t>
            </a:r>
            <a:endParaRPr lang="en-US" altLang="zh-CN" dirty="0" smtClean="0"/>
          </a:p>
          <a:p>
            <a:r>
              <a:rPr lang="zh-CN" altLang="en-US" dirty="0" smtClean="0"/>
              <a:t>依据：光度不变性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067694"/>
            <a:ext cx="5436096" cy="272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3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视觉里程计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直接法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直接法的非线性优化</a:t>
                </a:r>
                <a:endParaRPr lang="en-US" altLang="zh-CN" dirty="0" smtClean="0"/>
              </a:p>
              <a:p>
                <a:r>
                  <a:rPr lang="zh-CN" altLang="en-US" dirty="0"/>
                  <a:t>优化变量：李代数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zh-CN" altLang="en-US" dirty="0"/>
                  <a:t>。（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 smtClean="0"/>
                  <a:t>残差函数：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雅克</a:t>
                </a:r>
                <a:r>
                  <a:rPr lang="zh-CN" altLang="en-US" dirty="0" smtClean="0"/>
                  <a:t>比矩阵：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𝜕𝜉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𝜕𝜉</m:t>
                        </m:r>
                      </m:den>
                    </m:f>
                  </m:oMath>
                </a14:m>
                <a:r>
                  <a:rPr lang="en-US" altLang="zh-CN" dirty="0" smtClean="0"/>
                  <a:t>      </a:t>
                </a:r>
                <a:r>
                  <a:rPr lang="zh-CN" altLang="en-US" dirty="0" smtClean="0"/>
                  <a:t>（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1∗2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2∗3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3∗6</m:t>
                        </m:r>
                      </m:e>
                    </m:d>
                  </m:oMath>
                </a14:m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r>
                  <a:rPr lang="zh-CN" altLang="en-US" dirty="0"/>
                  <a:t>计算步长：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6∗1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∗6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∗1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常见直接法</a:t>
                </a:r>
                <a:r>
                  <a:rPr lang="en-US" altLang="zh-CN" dirty="0" smtClean="0"/>
                  <a:t>slam</a:t>
                </a:r>
                <a:r>
                  <a:rPr lang="zh-CN" altLang="en-US" dirty="0" smtClean="0"/>
                  <a:t>：</a:t>
                </a:r>
                <a:r>
                  <a:rPr lang="en-US" altLang="zh-CN" dirty="0" err="1" smtClean="0"/>
                  <a:t>lsd</a:t>
                </a:r>
                <a:r>
                  <a:rPr lang="en-US" altLang="zh-CN" dirty="0" smtClean="0"/>
                  <a:t> slam</a:t>
                </a:r>
                <a:r>
                  <a:rPr lang="zh-CN" altLang="en-US" dirty="0" smtClean="0"/>
                  <a:t>，</a:t>
                </a:r>
                <a:r>
                  <a:rPr lang="en-US" altLang="zh-CN" dirty="0" err="1" smtClean="0"/>
                  <a:t>svo</a:t>
                </a:r>
                <a:r>
                  <a:rPr lang="en-US" altLang="zh-CN" dirty="0" smtClean="0"/>
                  <a:t> slam</a:t>
                </a:r>
                <a:r>
                  <a:rPr lang="zh-CN" altLang="en-US" dirty="0" smtClean="0"/>
                  <a:t>，</a:t>
                </a:r>
                <a:r>
                  <a:rPr lang="en-US" altLang="zh-CN" dirty="0" err="1" smtClean="0"/>
                  <a:t>dso</a:t>
                </a:r>
                <a:r>
                  <a:rPr lang="en-US" altLang="zh-CN" dirty="0" smtClean="0"/>
                  <a:t> slam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xmlns="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 rotWithShape="0">
                <a:blip r:embed="rId2"/>
                <a:stretch>
                  <a:fillRect l="-699" t="-1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53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Slam</a:t>
            </a:r>
            <a:r>
              <a:rPr lang="zh-CN" altLang="en-US" dirty="0" smtClean="0"/>
              <a:t>后端优化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D280BB-33FA-472F-AE87-D769FCB6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由于传感器噪声存在，里程计必定会有累计误差。</a:t>
            </a:r>
            <a:endParaRPr lang="en-US" altLang="zh-CN" dirty="0" smtClean="0"/>
          </a:p>
          <a:p>
            <a:r>
              <a:rPr lang="zh-CN" altLang="en-US" dirty="0" smtClean="0"/>
              <a:t>为了减少这种误差我们给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加入后端优化。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563638"/>
            <a:ext cx="4187847" cy="346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9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Slam</a:t>
            </a:r>
            <a:r>
              <a:rPr lang="zh-CN" altLang="en-US" dirty="0" smtClean="0"/>
              <a:t>后端优化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15616" y="915566"/>
            <a:ext cx="6649466" cy="368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5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="" xmlns:a16="http://schemas.microsoft.com/office/drawing/2014/main" id="{B7AB0F9B-8919-4DBB-8059-560D0DBC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Slam</a:t>
            </a:r>
            <a:r>
              <a:rPr lang="zh-CN" altLang="en-US" dirty="0" smtClean="0"/>
              <a:t>后端优化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="" xmlns:a16="http://schemas.microsoft.com/office/drawing/2014/main" id="{DFD280BB-33FA-472F-AE87-D769FCB69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99846" y="699543"/>
                <a:ext cx="7860586" cy="3816424"/>
              </a:xfrm>
            </p:spPr>
            <p:txBody>
              <a:bodyPr/>
              <a:lstStyle/>
              <a:p>
                <a:r>
                  <a:rPr lang="zh-CN" altLang="en-US" dirty="0" smtClean="0"/>
                  <a:t>里程计过程的位姿表示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当形成闭环时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残差函数：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/>
                  <a:t>雅克</a:t>
                </a:r>
                <a:r>
                  <a:rPr lang="zh-CN" altLang="en-US" dirty="0" smtClean="0"/>
                  <a:t>比矩阵：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计算步长：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 smtClean="0"/>
                  <a:t>注意：此优化中残差矩阵与雅克比矩阵大小与需要优化的</a:t>
                </a:r>
                <a:r>
                  <a:rPr lang="en-US" altLang="zh-CN" dirty="0" smtClean="0"/>
                  <a:t>pose</a:t>
                </a:r>
                <a:r>
                  <a:rPr lang="zh-CN" altLang="en-US" dirty="0" smtClean="0"/>
                  <a:t>数量及闭环数量有关。例如有</a:t>
                </a:r>
                <a:r>
                  <a:rPr lang="en-US" altLang="zh-CN" dirty="0" smtClean="0"/>
                  <a:t>100</a:t>
                </a:r>
                <a:r>
                  <a:rPr lang="zh-CN" altLang="en-US" dirty="0" smtClean="0"/>
                  <a:t>个</a:t>
                </a:r>
                <a:r>
                  <a:rPr lang="en-US" altLang="zh-CN" dirty="0" smtClean="0"/>
                  <a:t>pose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20</a:t>
                </a:r>
                <a:r>
                  <a:rPr lang="zh-CN" altLang="en-US" dirty="0" smtClean="0"/>
                  <a:t>个闭环，则残差的矩阵大小为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20+99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∗6,1</m:t>
                        </m:r>
                      </m:e>
                    </m:d>
                  </m:oMath>
                </a14:m>
                <a:r>
                  <a:rPr lang="zh-CN" altLang="en-US" dirty="0" smtClean="0"/>
                  <a:t>，雅克比矩阵大小为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119∗6,100∗6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FD280BB-33FA-472F-AE87-D769FCB69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99846" y="699543"/>
                <a:ext cx="7860586" cy="3816424"/>
              </a:xfrm>
              <a:blipFill rotWithShape="0">
                <a:blip r:embed="rId2"/>
                <a:stretch>
                  <a:fillRect l="-698" t="-1438" b="-1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04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重点：非线性优化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用高斯牛顿算法解决非线性最小二乘问题</a:t>
            </a:r>
            <a:endParaRPr lang="en-US" altLang="zh-CN" dirty="0" smtClean="0"/>
          </a:p>
          <a:p>
            <a:r>
              <a:rPr lang="zh-CN" altLang="en-US" dirty="0" smtClean="0"/>
              <a:t>非线性优化应用：学习类。</a:t>
            </a:r>
            <a:endParaRPr lang="en-US" altLang="zh-CN" dirty="0" smtClean="0"/>
          </a:p>
          <a:p>
            <a:r>
              <a:rPr lang="en-US" altLang="zh-CN" dirty="0" smtClean="0"/>
              <a:t>Slam</a:t>
            </a:r>
            <a:r>
              <a:rPr lang="zh-CN" altLang="en-US" dirty="0" smtClean="0"/>
              <a:t>的应用：室内机器人，</a:t>
            </a:r>
            <a:r>
              <a:rPr lang="en-US" altLang="zh-CN" dirty="0" smtClean="0"/>
              <a:t>AGV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AR/VR</a:t>
            </a:r>
            <a:r>
              <a:rPr lang="zh-CN" altLang="en-US" dirty="0" smtClean="0"/>
              <a:t>，无人驾驶（高精地图的构建，定位）</a:t>
            </a:r>
            <a:endParaRPr lang="en-US" altLang="zh-CN" dirty="0" smtClean="0"/>
          </a:p>
          <a:p>
            <a:r>
              <a:rPr lang="en-US" altLang="zh-CN" dirty="0" smtClean="0"/>
              <a:t>Slam</a:t>
            </a:r>
            <a:r>
              <a:rPr lang="zh-CN" altLang="en-US" dirty="0" smtClean="0"/>
              <a:t>学习的书籍：</a:t>
            </a:r>
            <a:r>
              <a:rPr lang="en-US" altLang="zh-CN" dirty="0" smtClean="0"/>
              <a:t>probabilistic robotics</a:t>
            </a:r>
            <a:r>
              <a:rPr lang="zh-CN" altLang="en-US" dirty="0" smtClean="0"/>
              <a:t>（概率机器人），</a:t>
            </a:r>
            <a:r>
              <a:rPr lang="en-US" altLang="zh-CN" dirty="0" smtClean="0"/>
              <a:t>state estimation for robotics</a:t>
            </a:r>
            <a:r>
              <a:rPr lang="zh-CN" altLang="en-US" dirty="0" smtClean="0"/>
              <a:t>，视觉</a:t>
            </a:r>
            <a:r>
              <a:rPr lang="en-US" altLang="zh-CN" dirty="0" smtClean="0"/>
              <a:t>slam</a:t>
            </a:r>
            <a:r>
              <a:rPr lang="zh-CN" altLang="en-US" dirty="0" smtClean="0"/>
              <a:t>十四讲，计算机视觉中的多视图几何</a:t>
            </a:r>
            <a:endParaRPr lang="en-US" altLang="zh-CN" dirty="0" smtClean="0"/>
          </a:p>
          <a:p>
            <a:r>
              <a:rPr lang="en-US" altLang="zh-CN" dirty="0" smtClean="0"/>
              <a:t>Slam</a:t>
            </a:r>
            <a:r>
              <a:rPr lang="zh-CN" altLang="en-US" dirty="0" smtClean="0"/>
              <a:t>学习网站：</a:t>
            </a:r>
            <a:r>
              <a:rPr lang="en-US" altLang="zh-CN" dirty="0" smtClean="0"/>
              <a:t>www.slamcn.org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15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鸡汤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所有牛逼的背后，都是苦逼。</a:t>
            </a:r>
            <a:endParaRPr lang="en-US" altLang="zh-CN" dirty="0" smtClean="0"/>
          </a:p>
          <a:p>
            <a:r>
              <a:rPr lang="zh-CN" altLang="en-US" dirty="0" smtClean="0"/>
              <a:t>我从没有见过一个不努力的人，就突然横空出世，牛逼闪闪。</a:t>
            </a:r>
            <a:endParaRPr lang="en-US" altLang="zh-CN" dirty="0" smtClean="0"/>
          </a:p>
          <a:p>
            <a:r>
              <a:rPr lang="zh-CN" altLang="en-US" dirty="0" smtClean="0"/>
              <a:t>我也从没有见过一个人，轻轻松松，就活出了别人仰望的高度。</a:t>
            </a:r>
            <a:endParaRPr lang="en-US" altLang="zh-CN" dirty="0" smtClean="0"/>
          </a:p>
          <a:p>
            <a:r>
              <a:rPr lang="zh-CN" altLang="en-US" dirty="0" smtClean="0"/>
              <a:t>世上所有的牛逼，闻起来，都有一股加班（努力）的味道。</a:t>
            </a:r>
            <a:endParaRPr lang="en-US" altLang="zh-CN" dirty="0" smtClean="0"/>
          </a:p>
          <a:p>
            <a:r>
              <a:rPr lang="zh-CN" altLang="en-US" dirty="0" smtClean="0"/>
              <a:t>为什么一定要学习，一定要努力工作？</a:t>
            </a:r>
            <a:endParaRPr lang="en-US" altLang="zh-CN" dirty="0" smtClean="0"/>
          </a:p>
          <a:p>
            <a:r>
              <a:rPr lang="zh-CN" altLang="en-US" dirty="0" smtClean="0"/>
              <a:t>因为，世界不会亏待每个流过汗的人，你流过的汗，最终会变成</a:t>
            </a:r>
            <a:r>
              <a:rPr lang="zh-CN" altLang="en-US" b="1" dirty="0" smtClean="0">
                <a:solidFill>
                  <a:srgbClr val="FF0000"/>
                </a:solidFill>
              </a:rPr>
              <a:t>钱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74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1FD8DBA-0288-49BE-AA88-126FC3771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谢谢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672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6787</TotalTime>
  <Words>947</Words>
  <Application>Microsoft Office PowerPoint</Application>
  <PresentationFormat>全屏显示(16:9)</PresentationFormat>
  <Paragraphs>215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方正准圆简体</vt:lpstr>
      <vt:lpstr>黑体</vt:lpstr>
      <vt:lpstr>宋体</vt:lpstr>
      <vt:lpstr>微软雅黑</vt:lpstr>
      <vt:lpstr>Arial</vt:lpstr>
      <vt:lpstr>Arial Black</vt:lpstr>
      <vt:lpstr>Calibri</vt:lpstr>
      <vt:lpstr>Cambria Math</vt:lpstr>
      <vt:lpstr>Office 主题</vt:lpstr>
      <vt:lpstr>SLAM基础知识分享</vt:lpstr>
      <vt:lpstr>什么是SLAM？有哪些SLAM？</vt:lpstr>
      <vt:lpstr>刚体运动与坐标变换</vt:lpstr>
      <vt:lpstr>刚体运动与坐标变换</vt:lpstr>
      <vt:lpstr>刚体运动与坐标变换</vt:lpstr>
      <vt:lpstr>刚体运动与坐标变换</vt:lpstr>
      <vt:lpstr>刚体运动与坐标变换</vt:lpstr>
      <vt:lpstr>非线性优化（最小二乘的引出）</vt:lpstr>
      <vt:lpstr>非线性优化（最小二乘的引出）</vt:lpstr>
      <vt:lpstr>非线性优化（解最小二乘）</vt:lpstr>
      <vt:lpstr>非线性优化（梯度法）</vt:lpstr>
      <vt:lpstr>非线性优化（高斯牛顿法）</vt:lpstr>
      <vt:lpstr>非线性优化（高斯牛顿法）</vt:lpstr>
      <vt:lpstr>非线性优化（例子）</vt:lpstr>
      <vt:lpstr>Slam简介</vt:lpstr>
      <vt:lpstr>激光里程计</vt:lpstr>
      <vt:lpstr>激光里程计</vt:lpstr>
      <vt:lpstr>视觉里程计——相机模型</vt:lpstr>
      <vt:lpstr>视觉里程计——特征点法</vt:lpstr>
      <vt:lpstr>视觉里程计——特征点法</vt:lpstr>
      <vt:lpstr>视觉里程计——直接法</vt:lpstr>
      <vt:lpstr>视觉里程计——直接法</vt:lpstr>
      <vt:lpstr>Slam后端优化</vt:lpstr>
      <vt:lpstr>Slam后端优化</vt:lpstr>
      <vt:lpstr>Slam后端优化</vt:lpstr>
      <vt:lpstr>总结</vt:lpstr>
      <vt:lpstr>鸡汤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Aido</dc:creator>
  <cp:lastModifiedBy>acer</cp:lastModifiedBy>
  <cp:revision>139</cp:revision>
  <dcterms:created xsi:type="dcterms:W3CDTF">2017-06-02T11:04:22Z</dcterms:created>
  <dcterms:modified xsi:type="dcterms:W3CDTF">2018-05-04T01:25:59Z</dcterms:modified>
</cp:coreProperties>
</file>