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75" r:id="rId5"/>
    <p:sldId id="262" r:id="rId6"/>
    <p:sldId id="264" r:id="rId7"/>
    <p:sldId id="265" r:id="rId8"/>
    <p:sldId id="266" r:id="rId9"/>
    <p:sldId id="267" r:id="rId10"/>
    <p:sldId id="26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3" autoAdjust="0"/>
    <p:restoredTop sz="82554" autoAdjust="0"/>
  </p:normalViewPr>
  <p:slideViewPr>
    <p:cSldViewPr snapToGrid="0">
      <p:cViewPr varScale="1">
        <p:scale>
          <a:sx n="96" d="100"/>
          <a:sy n="96" d="100"/>
        </p:scale>
        <p:origin x="9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9F1BB-6AED-4F34-B0A5-435DA2C0FE07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E0F98-4D21-4CD6-998B-BCA70BE878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2913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38DB-1C82-4DDD-B767-297977C5C38E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8F195-724C-406D-B2C4-CB50F3109D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13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目的：充分利用</a:t>
            </a:r>
            <a:r>
              <a:rPr lang="en-US" altLang="zh-CN" dirty="0" smtClean="0"/>
              <a:t>GPU</a:t>
            </a:r>
            <a:r>
              <a:rPr lang="zh-CN" altLang="en-US" dirty="0" smtClean="0"/>
              <a:t>计算资源</a:t>
            </a:r>
            <a:endParaRPr lang="en-US" altLang="zh-CN" dirty="0" smtClean="0"/>
          </a:p>
          <a:p>
            <a:r>
              <a:rPr lang="zh-CN" altLang="en-US" dirty="0" smtClean="0"/>
              <a:t>线程块：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执行相同程序的一组线程可通过局部内存通信，并通过</a:t>
            </a:r>
            <a:r>
              <a:rPr lang="zh-CN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栅栏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同步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平台无关性：可支持不同的硬件（不是完全无关，程度不一，性能折中）和操作系统（软件实现及维护）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异构计算资源：为异构平台编写程序框架，即支持不同类型设备，平台可包括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或其它类型处理器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8F195-724C-406D-B2C4-CB50F3109D1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347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上下文包括的资源：设备、</a:t>
            </a:r>
            <a:r>
              <a:rPr lang="zh-CN" altLang="en-US" baseline="0" dirty="0" smtClean="0"/>
              <a:t>内核（在</a:t>
            </a:r>
            <a:r>
              <a:rPr lang="en-US" altLang="zh-CN" baseline="0" dirty="0" err="1" smtClean="0"/>
              <a:t>OpenCL</a:t>
            </a:r>
            <a:r>
              <a:rPr lang="zh-CN" altLang="en-US" baseline="0" dirty="0" smtClean="0"/>
              <a:t>设备上运行的</a:t>
            </a:r>
            <a:r>
              <a:rPr lang="en-US" altLang="zh-CN" baseline="0" dirty="0" err="1" smtClean="0"/>
              <a:t>OpenCL</a:t>
            </a:r>
            <a:r>
              <a:rPr lang="zh-CN" altLang="en-US" baseline="0" dirty="0" smtClean="0"/>
              <a:t>函数）、程序对象（实现内核的程序源代码和可执行文件）、内存对象（内存中对</a:t>
            </a:r>
            <a:r>
              <a:rPr lang="en-US" altLang="zh-CN" baseline="0" dirty="0" err="1" smtClean="0"/>
              <a:t>OpenCL</a:t>
            </a:r>
            <a:r>
              <a:rPr lang="zh-CN" altLang="en-US" baseline="0" dirty="0" smtClean="0"/>
              <a:t>设备可见的一组对象）、命令队列（在上下文和各设备之间提供一个接口）</a:t>
            </a:r>
            <a:endParaRPr lang="en-US" altLang="zh-CN" baseline="0" dirty="0" smtClean="0"/>
          </a:p>
          <a:p>
            <a:r>
              <a:rPr lang="en-US" altLang="zh-CN" dirty="0" err="1" smtClean="0"/>
              <a:t>Dsp</a:t>
            </a:r>
            <a:r>
              <a:rPr lang="zh-CN" altLang="en-US" dirty="0" smtClean="0"/>
              <a:t>：</a:t>
            </a:r>
            <a:r>
              <a:rPr lang="en-US" altLang="zh-CN" dirty="0" smtClean="0"/>
              <a:t>digital signal processing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8F195-724C-406D-B2C4-CB50F3109D1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173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8F195-724C-406D-B2C4-CB50F3109D1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871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8F195-724C-406D-B2C4-CB50F3109D1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305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宿主机程序：</a:t>
            </a:r>
            <a:r>
              <a:rPr lang="en-US" altLang="zh-CN" dirty="0" err="1" smtClean="0"/>
              <a:t>OpenCL</a:t>
            </a:r>
            <a:r>
              <a:rPr lang="zh-CN" altLang="en-US" dirty="0" smtClean="0"/>
              <a:t>未定义其具体工作，只定义它与</a:t>
            </a:r>
            <a:r>
              <a:rPr lang="en-US" altLang="zh-CN" dirty="0" err="1" smtClean="0"/>
              <a:t>OpenCL</a:t>
            </a:r>
            <a:r>
              <a:rPr lang="zh-CN" altLang="en-US" dirty="0" smtClean="0"/>
              <a:t>对象的交互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8F195-724C-406D-B2C4-CB50F3109D1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145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None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缓冲区对象：内核可用的一个连续内存区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图像对象：仅存储图像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8F195-724C-406D-B2C4-CB50F3109D1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781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任务（为单个工作项执行的内核）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SIMD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（单指令多数据）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SPMD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（单程序多数据）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8F195-724C-406D-B2C4-CB50F3109D1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675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平台：宿主机、</a:t>
            </a:r>
            <a:r>
              <a:rPr lang="en-US" altLang="zh-CN" dirty="0" err="1" smtClean="0">
                <a:latin typeface="+mn-ea"/>
                <a:cs typeface="Arial Unicode MS" panose="020B0604020202020204" pitchFamily="34" charset="-122"/>
              </a:rPr>
              <a:t>O</a:t>
            </a:r>
            <a:r>
              <a:rPr lang="en-US" altLang="zh-CN" cap="none" dirty="0" err="1" smtClean="0">
                <a:latin typeface="+mn-ea"/>
                <a:cs typeface="Arial Unicode MS" panose="020B0604020202020204" pitchFamily="34" charset="-122"/>
              </a:rPr>
              <a:t>pen</a:t>
            </a:r>
            <a:r>
              <a:rPr lang="en-US" altLang="zh-CN" dirty="0" err="1" smtClean="0">
                <a:latin typeface="+mn-ea"/>
                <a:cs typeface="Arial Unicode MS" panose="020B0604020202020204" pitchFamily="34" charset="-122"/>
              </a:rPr>
              <a:t>CL</a:t>
            </a:r>
            <a:r>
              <a:rPr lang="zh-CN" altLang="en-US" dirty="0" smtClean="0">
                <a:latin typeface="+mn-ea"/>
                <a:cs typeface="Arial Unicode MS" panose="020B0604020202020204" pitchFamily="34" charset="-122"/>
              </a:rPr>
              <a:t>设备和</a:t>
            </a:r>
            <a:r>
              <a:rPr lang="en-US" altLang="zh-CN" dirty="0" err="1" smtClean="0">
                <a:latin typeface="+mn-ea"/>
                <a:cs typeface="Arial Unicode MS" panose="020B0604020202020204" pitchFamily="34" charset="-122"/>
              </a:rPr>
              <a:t>O</a:t>
            </a:r>
            <a:r>
              <a:rPr lang="en-US" altLang="zh-CN" cap="none" dirty="0" err="1" smtClean="0">
                <a:latin typeface="+mn-ea"/>
                <a:cs typeface="Arial Unicode MS" panose="020B0604020202020204" pitchFamily="34" charset="-122"/>
              </a:rPr>
              <a:t>pen</a:t>
            </a:r>
            <a:r>
              <a:rPr lang="en-US" altLang="zh-CN" dirty="0" err="1" smtClean="0">
                <a:latin typeface="+mn-ea"/>
                <a:cs typeface="Arial Unicode MS" panose="020B0604020202020204" pitchFamily="34" charset="-122"/>
              </a:rPr>
              <a:t>CL</a:t>
            </a:r>
            <a:r>
              <a:rPr lang="zh-CN" altLang="en-US" dirty="0" smtClean="0">
                <a:latin typeface="+mn-ea"/>
                <a:cs typeface="Arial Unicode MS" panose="020B0604020202020204" pitchFamily="34" charset="-122"/>
              </a:rPr>
              <a:t>框架的组合</a:t>
            </a:r>
            <a:endParaRPr lang="en-US" altLang="zh-CN" dirty="0" smtClean="0">
              <a:latin typeface="+mn-ea"/>
              <a:cs typeface="Arial Unicode MS" panose="020B0604020202020204" pitchFamily="34" charset="-122"/>
            </a:endParaRPr>
          </a:p>
          <a:p>
            <a:r>
              <a:rPr lang="zh-CN" altLang="en-US" dirty="0" smtClean="0">
                <a:latin typeface="+mn-ea"/>
                <a:cs typeface="Arial Unicode MS" panose="020B0604020202020204" pitchFamily="34" charset="-122"/>
              </a:rPr>
              <a:t>运行时</a:t>
            </a:r>
            <a:r>
              <a:rPr lang="en-US" altLang="zh-CN" dirty="0" smtClean="0">
                <a:latin typeface="+mn-ea"/>
                <a:cs typeface="Arial Unicode MS" panose="020B0604020202020204" pitchFamily="34" charset="-122"/>
              </a:rPr>
              <a:t>API</a:t>
            </a:r>
            <a:r>
              <a:rPr lang="zh-CN" altLang="en-US" dirty="0" smtClean="0">
                <a:latin typeface="+mn-ea"/>
                <a:cs typeface="Arial Unicode MS" panose="020B0604020202020204" pitchFamily="34" charset="-122"/>
              </a:rPr>
              <a:t>：建立命令队列、创建构建动态库所用的程序对象</a:t>
            </a:r>
            <a:endParaRPr lang="en-US" altLang="zh-CN" dirty="0" smtClean="0"/>
          </a:p>
          <a:p>
            <a:r>
              <a:rPr lang="zh-CN" altLang="en-US" dirty="0" smtClean="0"/>
              <a:t>内核编程语言：基于</a:t>
            </a:r>
            <a:r>
              <a:rPr lang="en-US" altLang="zh-CN" dirty="0" smtClean="0"/>
              <a:t>ISO C99</a:t>
            </a:r>
            <a:r>
              <a:rPr lang="zh-CN" altLang="en-US" dirty="0" smtClean="0"/>
              <a:t>标准地一个扩展子集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8F195-724C-406D-B2C4-CB50F3109D1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659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5680-B22C-4C91-BA80-3D0246962F5C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C280-D8CD-43A8-A849-28325CF47D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577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5680-B22C-4C91-BA80-3D0246962F5C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C280-D8CD-43A8-A849-28325CF47D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461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5680-B22C-4C91-BA80-3D0246962F5C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C280-D8CD-43A8-A849-28325CF47D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490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5680-B22C-4C91-BA80-3D0246962F5C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C280-D8CD-43A8-A849-28325CF47D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706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5680-B22C-4C91-BA80-3D0246962F5C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C280-D8CD-43A8-A849-28325CF47D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84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5680-B22C-4C91-BA80-3D0246962F5C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C280-D8CD-43A8-A849-28325CF47D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245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5680-B22C-4C91-BA80-3D0246962F5C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C280-D8CD-43A8-A849-28325CF47D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871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5680-B22C-4C91-BA80-3D0246962F5C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C280-D8CD-43A8-A849-28325CF47D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241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5680-B22C-4C91-BA80-3D0246962F5C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C280-D8CD-43A8-A849-28325CF47D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689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5680-B22C-4C91-BA80-3D0246962F5C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C280-D8CD-43A8-A849-28325CF47D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268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5680-B22C-4C91-BA80-3D0246962F5C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C280-D8CD-43A8-A849-28325CF47D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204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5680-B22C-4C91-BA80-3D0246962F5C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C280-D8CD-43A8-A849-28325CF47D9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9431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5680-B22C-4C91-BA80-3D0246962F5C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C280-D8CD-43A8-A849-28325CF47D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508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5680-B22C-4C91-BA80-3D0246962F5C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C280-D8CD-43A8-A849-28325CF47D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537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5680-B22C-4C91-BA80-3D0246962F5C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C280-D8CD-43A8-A849-28325CF47D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543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5680-B22C-4C91-BA80-3D0246962F5C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C280-D8CD-43A8-A849-28325CF47D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414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55680-B22C-4C91-BA80-3D0246962F5C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EC280-D8CD-43A8-A849-28325CF47D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085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D055680-B22C-4C91-BA80-3D0246962F5C}" type="datetimeFigureOut">
              <a:rPr lang="zh-CN" altLang="en-US" smtClean="0"/>
              <a:t>2018/9/18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45EC280-D8CD-43A8-A849-28325CF47D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826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mtClean="0"/>
              <a:t>O</a:t>
            </a:r>
            <a:r>
              <a:rPr lang="en-US" altLang="zh-CN" cap="none" smtClean="0"/>
              <a:t>pen</a:t>
            </a:r>
            <a:r>
              <a:rPr lang="en-US" altLang="zh-CN" smtClean="0"/>
              <a:t>cl</a:t>
            </a:r>
            <a:r>
              <a:rPr lang="zh-CN" altLang="en-US" smtClean="0"/>
              <a:t>编程</a:t>
            </a:r>
            <a:r>
              <a:rPr lang="zh-CN" altLang="en-US" dirty="0" smtClean="0"/>
              <a:t>入门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0456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err="1" smtClean="0"/>
              <a:t>O</a:t>
            </a:r>
            <a:r>
              <a:rPr lang="en-US" altLang="zh-CN" cap="none" dirty="0" err="1" smtClean="0"/>
              <a:t>pen</a:t>
            </a:r>
            <a:r>
              <a:rPr lang="en-US" altLang="zh-CN" dirty="0" err="1" smtClean="0"/>
              <a:t>CL</a:t>
            </a:r>
            <a:r>
              <a:rPr lang="zh-CN" altLang="en-US" dirty="0" smtClean="0"/>
              <a:t>简介</a:t>
            </a:r>
            <a:endParaRPr lang="en-US" altLang="zh-CN" dirty="0" smtClean="0"/>
          </a:p>
          <a:p>
            <a:r>
              <a:rPr lang="en-US" altLang="zh-CN" dirty="0" err="1" smtClean="0"/>
              <a:t>O</a:t>
            </a:r>
            <a:r>
              <a:rPr lang="en-US" altLang="zh-CN" cap="none" dirty="0" err="1" smtClean="0"/>
              <a:t>pen</a:t>
            </a:r>
            <a:r>
              <a:rPr lang="en-US" altLang="zh-CN" dirty="0" err="1" smtClean="0"/>
              <a:t>CL</a:t>
            </a:r>
            <a:r>
              <a:rPr lang="zh-CN" altLang="en-US" dirty="0" smtClean="0"/>
              <a:t>概念</a:t>
            </a:r>
            <a:endParaRPr lang="en-US" altLang="zh-CN" dirty="0" smtClean="0"/>
          </a:p>
          <a:p>
            <a:r>
              <a:rPr lang="en-US" altLang="zh-CN" dirty="0" err="1"/>
              <a:t>O</a:t>
            </a:r>
            <a:r>
              <a:rPr lang="en-US" altLang="zh-CN" cap="none" dirty="0" err="1"/>
              <a:t>pen</a:t>
            </a:r>
            <a:r>
              <a:rPr lang="en-US" altLang="zh-CN" dirty="0" err="1"/>
              <a:t>CL</a:t>
            </a:r>
            <a:r>
              <a:rPr lang="zh-CN" altLang="en-US" dirty="0"/>
              <a:t>问题</a:t>
            </a:r>
            <a:r>
              <a:rPr lang="zh-CN" altLang="en-US" dirty="0" smtClean="0"/>
              <a:t>模型</a:t>
            </a:r>
            <a:endParaRPr lang="en-US" altLang="zh-CN" dirty="0" smtClean="0"/>
          </a:p>
          <a:p>
            <a:r>
              <a:rPr lang="en-US" altLang="zh-CN" dirty="0" err="1" smtClean="0"/>
              <a:t>O</a:t>
            </a:r>
            <a:r>
              <a:rPr lang="en-US" altLang="zh-CN" cap="none" dirty="0" err="1" smtClean="0"/>
              <a:t>pen</a:t>
            </a:r>
            <a:r>
              <a:rPr lang="en-US" altLang="zh-CN" dirty="0" err="1" smtClean="0"/>
              <a:t>CL</a:t>
            </a:r>
            <a:r>
              <a:rPr lang="zh-CN" altLang="en-US" smtClean="0"/>
              <a:t>框架组成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570769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O</a:t>
            </a:r>
            <a:r>
              <a:rPr lang="en-US" altLang="zh-CN" cap="none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pen</a:t>
            </a:r>
            <a:r>
              <a:rPr lang="en-US" altLang="zh-CN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CL</a:t>
            </a:r>
            <a:r>
              <a:rPr lang="zh-CN" altLang="en-US" dirty="0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简介</a:t>
            </a:r>
            <a:endParaRPr lang="zh-CN" altLang="en-US" dirty="0"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 smtClean="0"/>
              <a:t>斯坦福大学</a:t>
            </a:r>
            <a:r>
              <a:rPr lang="zh-CN" altLang="zh-CN" dirty="0"/>
              <a:t>针对</a:t>
            </a:r>
            <a:r>
              <a:rPr lang="en-US" altLang="zh-CN" dirty="0"/>
              <a:t>GPU</a:t>
            </a:r>
            <a:r>
              <a:rPr lang="zh-CN" altLang="zh-CN" dirty="0" smtClean="0"/>
              <a:t>的</a:t>
            </a:r>
            <a:r>
              <a:rPr lang="en-US" altLang="zh-CN" cap="none" dirty="0" smtClean="0"/>
              <a:t>Brook</a:t>
            </a:r>
            <a:r>
              <a:rPr lang="zh-CN" altLang="zh-CN" dirty="0" smtClean="0"/>
              <a:t>项目</a:t>
            </a:r>
            <a:r>
              <a:rPr lang="zh-CN" altLang="en-US" dirty="0" smtClean="0"/>
              <a:t>：</a:t>
            </a:r>
            <a:r>
              <a:rPr lang="zh-CN" altLang="zh-CN" dirty="0" smtClean="0"/>
              <a:t>并行数据处理器</a:t>
            </a:r>
            <a:r>
              <a:rPr lang="zh-CN" altLang="en-US" dirty="0" smtClean="0"/>
              <a:t>、</a:t>
            </a:r>
            <a:r>
              <a:rPr lang="zh-CN" altLang="zh-CN" dirty="0" smtClean="0"/>
              <a:t>并行</a:t>
            </a:r>
            <a:r>
              <a:rPr lang="zh-CN" altLang="zh-CN" dirty="0"/>
              <a:t>编程</a:t>
            </a:r>
            <a:r>
              <a:rPr lang="zh-CN" altLang="zh-CN" dirty="0" smtClean="0"/>
              <a:t>模型</a:t>
            </a:r>
            <a:endParaRPr lang="en-US" altLang="zh-CN" dirty="0" smtClean="0"/>
          </a:p>
          <a:p>
            <a:r>
              <a:rPr lang="en-US" altLang="zh-CN" dirty="0" smtClean="0"/>
              <a:t>NVIDIA</a:t>
            </a:r>
            <a:r>
              <a:rPr lang="zh-CN" altLang="zh-CN" dirty="0"/>
              <a:t>开发项目</a:t>
            </a:r>
            <a:r>
              <a:rPr lang="en-US" altLang="zh-CN" dirty="0" smtClean="0"/>
              <a:t>CUDA</a:t>
            </a:r>
            <a:r>
              <a:rPr lang="zh-CN" altLang="en-US" dirty="0" smtClean="0"/>
              <a:t>：线程块、为</a:t>
            </a:r>
            <a:r>
              <a:rPr lang="en-US" altLang="zh-CN" dirty="0"/>
              <a:t>GPU </a:t>
            </a:r>
            <a:r>
              <a:rPr lang="en-US" altLang="zh-CN" cap="none" dirty="0" smtClean="0"/>
              <a:t>Computing</a:t>
            </a:r>
            <a:r>
              <a:rPr lang="zh-CN" altLang="en-US" dirty="0" smtClean="0"/>
              <a:t>创建环境</a:t>
            </a:r>
            <a:endParaRPr lang="en-US" altLang="zh-CN" dirty="0" smtClean="0"/>
          </a:p>
          <a:p>
            <a:r>
              <a:rPr lang="zh-CN" altLang="zh-CN" dirty="0"/>
              <a:t>开放计算语言</a:t>
            </a:r>
            <a:r>
              <a:rPr lang="zh-CN" altLang="zh-CN" dirty="0" smtClean="0"/>
              <a:t>（</a:t>
            </a:r>
            <a:r>
              <a:rPr lang="en-US" altLang="zh-CN" cap="none" dirty="0" smtClean="0"/>
              <a:t>Open Computing Language</a:t>
            </a:r>
            <a:r>
              <a:rPr lang="zh-CN" altLang="zh-CN" dirty="0" smtClean="0"/>
              <a:t>， </a:t>
            </a:r>
            <a:r>
              <a:rPr lang="en-US" altLang="zh-CN" dirty="0" err="1" smtClean="0"/>
              <a:t>O</a:t>
            </a:r>
            <a:r>
              <a:rPr lang="en-US" altLang="zh-CN" cap="none" dirty="0" err="1" smtClean="0"/>
              <a:t>pen</a:t>
            </a:r>
            <a:r>
              <a:rPr lang="en-US" altLang="zh-CN" dirty="0" err="1" smtClean="0"/>
              <a:t>CL</a:t>
            </a:r>
            <a:r>
              <a:rPr lang="zh-CN" altLang="zh-CN" dirty="0" smtClean="0"/>
              <a:t>）</a:t>
            </a:r>
            <a:r>
              <a:rPr lang="zh-CN" altLang="en-US" dirty="0"/>
              <a:t>：</a:t>
            </a:r>
            <a:r>
              <a:rPr lang="zh-CN" altLang="en-US" dirty="0" smtClean="0"/>
              <a:t>平台无关性、异构计算资源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8926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O</a:t>
            </a:r>
            <a:r>
              <a:rPr lang="en-US" altLang="zh-CN" cap="none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pen</a:t>
            </a:r>
            <a:r>
              <a:rPr lang="en-US" altLang="zh-CN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CL</a:t>
            </a:r>
            <a:r>
              <a:rPr lang="zh-CN" altLang="en-US" dirty="0">
                <a:ea typeface="Arial Unicode MS" panose="020B0604020202020204" pitchFamily="34" charset="-122"/>
                <a:cs typeface="Arial Unicode MS" panose="020B0604020202020204" pitchFamily="34" charset="-122"/>
              </a:rPr>
              <a:t>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平台：包括一个宿主机，与</a:t>
            </a:r>
            <a:r>
              <a:rPr lang="en-US" altLang="zh-CN" dirty="0" err="1" smtClean="0"/>
              <a:t>O</a:t>
            </a:r>
            <a:r>
              <a:rPr lang="en-US" altLang="zh-CN" cap="none" dirty="0" err="1" smtClean="0"/>
              <a:t>pen</a:t>
            </a:r>
            <a:r>
              <a:rPr lang="en-US" altLang="zh-CN" dirty="0" err="1" smtClean="0"/>
              <a:t>CL</a:t>
            </a:r>
            <a:r>
              <a:rPr lang="zh-CN" altLang="en-US" dirty="0" smtClean="0"/>
              <a:t>程序的外部环境（</a:t>
            </a:r>
            <a:r>
              <a:rPr lang="en-US" altLang="zh-CN" dirty="0" smtClean="0"/>
              <a:t>I/O</a:t>
            </a:r>
            <a:r>
              <a:rPr lang="zh-CN" altLang="en-US" dirty="0" smtClean="0"/>
              <a:t>、用户等）交互；</a:t>
            </a:r>
            <a:endParaRPr lang="en-US" altLang="zh-CN" dirty="0" smtClean="0"/>
          </a:p>
          <a:p>
            <a:r>
              <a:rPr lang="zh-CN" altLang="en-US" dirty="0" smtClean="0"/>
              <a:t>上下文：定义内核在其中定义和执行的环境，由宿主机使用</a:t>
            </a:r>
            <a:r>
              <a:rPr lang="en-US" altLang="zh-CN" dirty="0" err="1" smtClean="0"/>
              <a:t>O</a:t>
            </a:r>
            <a:r>
              <a:rPr lang="en-US" altLang="zh-CN" cap="none" dirty="0" err="1" smtClean="0"/>
              <a:t>pen</a:t>
            </a:r>
            <a:r>
              <a:rPr lang="en-US" altLang="zh-CN" dirty="0" err="1" smtClean="0"/>
              <a:t>CL</a:t>
            </a:r>
            <a:r>
              <a:rPr lang="en-US" altLang="zh-CN" dirty="0" smtClean="0"/>
              <a:t> API</a:t>
            </a:r>
            <a:r>
              <a:rPr lang="zh-CN" altLang="en-US" dirty="0" smtClean="0"/>
              <a:t>函数创建和管理；</a:t>
            </a:r>
            <a:endParaRPr lang="en-US" altLang="zh-CN" dirty="0" smtClean="0"/>
          </a:p>
          <a:p>
            <a:pPr marL="228600" lvl="1">
              <a:spcBef>
                <a:spcPts val="1000"/>
              </a:spcBef>
            </a:pPr>
            <a:r>
              <a:rPr lang="zh-CN" altLang="en-US" dirty="0" smtClean="0"/>
              <a:t>设备：</a:t>
            </a:r>
            <a:r>
              <a:rPr lang="zh-CN" altLang="en-US" dirty="0"/>
              <a:t>宿主机使用</a:t>
            </a:r>
            <a:r>
              <a:rPr lang="zh-CN" altLang="en-US" dirty="0" smtClean="0"/>
              <a:t>的</a:t>
            </a:r>
            <a:r>
              <a:rPr lang="en-US" altLang="zh-CN" dirty="0" err="1"/>
              <a:t>O</a:t>
            </a:r>
            <a:r>
              <a:rPr lang="en-US" altLang="zh-CN" cap="none" dirty="0" err="1"/>
              <a:t>pen</a:t>
            </a:r>
            <a:r>
              <a:rPr lang="en-US" altLang="zh-CN" dirty="0" err="1"/>
              <a:t>CL</a:t>
            </a:r>
            <a:r>
              <a:rPr lang="zh-CN" altLang="en-US" dirty="0" smtClean="0"/>
              <a:t>设备集合（</a:t>
            </a:r>
            <a:r>
              <a:rPr lang="en-US" altLang="zh-CN" sz="2000" dirty="0" smtClean="0">
                <a:cs typeface="Arial Unicode MS" panose="020B0604020202020204" pitchFamily="34" charset="-122"/>
              </a:rPr>
              <a:t>CPU</a:t>
            </a:r>
            <a:r>
              <a:rPr lang="zh-CN" altLang="en-US" sz="2000" dirty="0">
                <a:cs typeface="Arial Unicode MS" panose="020B0604020202020204" pitchFamily="34" charset="-122"/>
              </a:rPr>
              <a:t>、</a:t>
            </a:r>
            <a:r>
              <a:rPr lang="en-US" altLang="zh-CN" sz="2000" dirty="0">
                <a:cs typeface="Arial Unicode MS" panose="020B0604020202020204" pitchFamily="34" charset="-122"/>
              </a:rPr>
              <a:t>GPU</a:t>
            </a:r>
            <a:r>
              <a:rPr lang="zh-CN" altLang="en-US" sz="2000" dirty="0">
                <a:cs typeface="Arial Unicode MS" panose="020B0604020202020204" pitchFamily="34" charset="-122"/>
              </a:rPr>
              <a:t>、</a:t>
            </a:r>
            <a:r>
              <a:rPr lang="en-US" altLang="zh-CN" sz="2000" dirty="0" smtClean="0">
                <a:cs typeface="Arial Unicode MS" panose="020B0604020202020204" pitchFamily="34" charset="-122"/>
              </a:rPr>
              <a:t>DSP</a:t>
            </a:r>
            <a:r>
              <a:rPr lang="zh-CN" altLang="en-US" sz="2000" dirty="0" smtClean="0">
                <a:cs typeface="Arial Unicode MS" panose="020B0604020202020204" pitchFamily="34" charset="-122"/>
              </a:rPr>
              <a:t>等其他处理器</a:t>
            </a:r>
            <a:r>
              <a:rPr lang="zh-CN" altLang="en-US" dirty="0" smtClean="0"/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45465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O</a:t>
            </a:r>
            <a:r>
              <a:rPr lang="en-US" altLang="zh-CN" cap="none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pen</a:t>
            </a:r>
            <a:r>
              <a:rPr lang="en-US" altLang="zh-CN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CL</a:t>
            </a:r>
            <a:r>
              <a:rPr lang="zh-CN" altLang="en-US" dirty="0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问题模型</a:t>
            </a:r>
            <a:endParaRPr lang="zh-CN" altLang="en-US" dirty="0"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平台模型：异构系统的高层描述</a:t>
            </a:r>
            <a:endParaRPr lang="en-US" altLang="zh-CN" dirty="0" smtClean="0"/>
          </a:p>
          <a:p>
            <a:r>
              <a:rPr lang="zh-CN" altLang="en-US" dirty="0" smtClean="0"/>
              <a:t>执行模型：指令流在异构平台上执行的抽象表示</a:t>
            </a:r>
            <a:endParaRPr lang="en-US" altLang="zh-CN" dirty="0" smtClean="0"/>
          </a:p>
          <a:p>
            <a:r>
              <a:rPr lang="zh-CN" altLang="en-US" dirty="0" smtClean="0"/>
              <a:t>内存模型：内存区域集合及计算期间的交互</a:t>
            </a:r>
            <a:endParaRPr lang="en-US" altLang="zh-CN" dirty="0" smtClean="0"/>
          </a:p>
          <a:p>
            <a:r>
              <a:rPr lang="zh-CN" altLang="en-US" dirty="0" smtClean="0"/>
              <a:t>编程模型：设计算法实现一个应用的高级抽象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894460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O</a:t>
            </a:r>
            <a:r>
              <a:rPr lang="en-US" altLang="zh-CN" cap="none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pen</a:t>
            </a:r>
            <a:r>
              <a:rPr lang="en-US" altLang="zh-CN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CL</a:t>
            </a:r>
            <a:r>
              <a:rPr lang="zh-CN" altLang="en-US" dirty="0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概念</a:t>
            </a:r>
            <a:r>
              <a:rPr lang="en-US" altLang="zh-CN" dirty="0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--</a:t>
            </a:r>
            <a:r>
              <a:rPr lang="zh-CN" altLang="en-US" dirty="0"/>
              <a:t>平台模型</a:t>
            </a:r>
            <a:endParaRPr lang="zh-CN" altLang="en-US" dirty="0"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平台模型 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=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宿主机（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 </a:t>
            </a:r>
            <a:r>
              <a:rPr lang="en-US" altLang="zh-CN" sz="2000" dirty="0" err="1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O</a:t>
            </a:r>
            <a:r>
              <a:rPr lang="en-US" altLang="zh-CN" sz="2000" cap="none" dirty="0" err="1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pen</a:t>
            </a:r>
            <a:r>
              <a:rPr lang="en-US" altLang="zh-CN" sz="2000" dirty="0" err="1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CL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设备（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&gt;=1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）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  <a:cs typeface="Arial Unicode MS" panose="020B0604020202020204" pitchFamily="34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设备：计算单元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&gt;=1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）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  <a:cs typeface="Arial Unicode MS" panose="020B0604020202020204" pitchFamily="34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计算单元：处理单元（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&gt;=1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）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  <a:sym typeface="Wingdings" panose="05000000000000000000" pitchFamily="2" charset="2"/>
              </a:rPr>
              <a:t>完成运算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408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O</a:t>
            </a:r>
            <a:r>
              <a:rPr lang="en-US" altLang="zh-CN" cap="none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pen</a:t>
            </a:r>
            <a:r>
              <a:rPr lang="en-US" altLang="zh-CN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CL</a:t>
            </a:r>
            <a:r>
              <a:rPr lang="zh-CN" altLang="en-US" dirty="0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概念</a:t>
            </a:r>
            <a:r>
              <a:rPr lang="en-US" altLang="zh-CN" dirty="0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--</a:t>
            </a:r>
            <a:r>
              <a:rPr lang="zh-CN" altLang="en-US" dirty="0" smtClean="0"/>
              <a:t>执行模型</a:t>
            </a:r>
            <a:endParaRPr lang="zh-CN" altLang="en-US" dirty="0"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 err="1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O</a:t>
            </a:r>
            <a:r>
              <a:rPr lang="en-US" altLang="zh-CN" sz="2000" cap="none" dirty="0" err="1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pen</a:t>
            </a:r>
            <a:r>
              <a:rPr lang="en-US" altLang="zh-CN" sz="2000" dirty="0" err="1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CL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应用 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=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宿主机程序（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1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）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+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内核（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&gt;=1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）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  <a:cs typeface="Arial Unicode MS" panose="020B0604020202020204" pitchFamily="34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宿主机程序：运行在宿主机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上，定义了与</a:t>
            </a:r>
            <a:r>
              <a:rPr lang="en-US" altLang="zh-CN" sz="2000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en-US" altLang="zh-CN" sz="2000" cap="none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pen</a:t>
            </a:r>
            <a:r>
              <a:rPr lang="en-US" altLang="zh-CN" sz="2000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CL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对象的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交互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内核：在</a:t>
            </a:r>
            <a:r>
              <a:rPr lang="en-US" altLang="zh-CN" sz="2000" dirty="0" err="1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O</a:t>
            </a:r>
            <a:r>
              <a:rPr lang="en-US" altLang="zh-CN" sz="2000" cap="none" dirty="0" err="1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pen</a:t>
            </a:r>
            <a:r>
              <a:rPr lang="en-US" altLang="zh-CN" sz="2000" dirty="0" err="1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CL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设备上运行、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简单函数、将输入内存对象转化为输出内存对象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内核执行过程：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>
              <a:buFont typeface="Wingdings" panose="05000000000000000000" pitchFamily="2" charset="2"/>
              <a:buChar char="ü"/>
            </a:pP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  <a:cs typeface="Arial Unicode MS" panose="020B0604020202020204" pitchFamily="34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552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O</a:t>
            </a:r>
            <a:r>
              <a:rPr lang="en-US" altLang="zh-CN" cap="none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pen</a:t>
            </a:r>
            <a:r>
              <a:rPr lang="en-US" altLang="zh-CN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CL</a:t>
            </a:r>
            <a:r>
              <a:rPr lang="zh-CN" altLang="en-US" dirty="0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概念</a:t>
            </a:r>
            <a:r>
              <a:rPr lang="en-US" altLang="zh-CN" dirty="0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—</a:t>
            </a:r>
            <a:r>
              <a:rPr lang="zh-CN" altLang="en-US" dirty="0" smtClean="0"/>
              <a:t>内存模型</a:t>
            </a:r>
            <a:endParaRPr lang="zh-CN" altLang="en-US" dirty="0"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内存对象：缓冲区对象、图像对象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内存区域：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宿主机内存、全局内存、常量内存、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局部内存、私有内存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894" y="2367091"/>
            <a:ext cx="4713706" cy="34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79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O</a:t>
            </a:r>
            <a:r>
              <a:rPr lang="en-US" altLang="zh-CN" cap="none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pen</a:t>
            </a:r>
            <a:r>
              <a:rPr lang="en-US" altLang="zh-CN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CL</a:t>
            </a:r>
            <a:r>
              <a:rPr lang="zh-CN" altLang="en-US" dirty="0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概念</a:t>
            </a:r>
            <a:r>
              <a:rPr lang="en-US" altLang="zh-CN" dirty="0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—</a:t>
            </a:r>
            <a:r>
              <a:rPr lang="zh-CN" altLang="en-US" dirty="0" smtClean="0"/>
              <a:t>编程模型</a:t>
            </a:r>
            <a:endParaRPr lang="zh-CN" altLang="en-US" dirty="0"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任务并行：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数据并行：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SIMD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SPMD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混合模型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4831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O</a:t>
            </a:r>
            <a:r>
              <a:rPr lang="en-US" altLang="zh-CN" cap="none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pen</a:t>
            </a:r>
            <a:r>
              <a:rPr lang="en-US" altLang="zh-CN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CL</a:t>
            </a:r>
            <a:r>
              <a:rPr lang="zh-CN" altLang="en-US" dirty="0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框架组成</a:t>
            </a:r>
            <a:endParaRPr lang="zh-CN" altLang="en-US" dirty="0"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平台</a:t>
            </a:r>
            <a:r>
              <a:rPr lang="en-US" altLang="zh-CN" dirty="0" smtClean="0"/>
              <a:t>API</a:t>
            </a:r>
            <a:r>
              <a:rPr lang="zh-CN" altLang="en-US" dirty="0" smtClean="0"/>
              <a:t>：定义宿主机程序发</a:t>
            </a:r>
            <a:r>
              <a:rPr lang="zh-CN" altLang="en-US" dirty="0" smtClean="0">
                <a:latin typeface="+mn-ea"/>
              </a:rPr>
              <a:t>现</a:t>
            </a:r>
            <a:r>
              <a:rPr lang="en-US" altLang="zh-CN" dirty="0" err="1" smtClean="0">
                <a:latin typeface="+mn-ea"/>
                <a:cs typeface="Arial Unicode MS" panose="020B0604020202020204" pitchFamily="34" charset="-122"/>
              </a:rPr>
              <a:t>O</a:t>
            </a:r>
            <a:r>
              <a:rPr lang="en-US" altLang="zh-CN" cap="none" dirty="0" err="1" smtClean="0">
                <a:latin typeface="+mn-ea"/>
                <a:cs typeface="Arial Unicode MS" panose="020B0604020202020204" pitchFamily="34" charset="-122"/>
              </a:rPr>
              <a:t>pen</a:t>
            </a:r>
            <a:r>
              <a:rPr lang="en-US" altLang="zh-CN" dirty="0" err="1" smtClean="0">
                <a:latin typeface="+mn-ea"/>
                <a:cs typeface="Arial Unicode MS" panose="020B0604020202020204" pitchFamily="34" charset="-122"/>
              </a:rPr>
              <a:t>CL</a:t>
            </a:r>
            <a:r>
              <a:rPr lang="zh-CN" altLang="en-US" dirty="0" smtClean="0">
                <a:latin typeface="+mn-ea"/>
                <a:cs typeface="Arial Unicode MS" panose="020B0604020202020204" pitchFamily="34" charset="-122"/>
              </a:rPr>
              <a:t>设备所用的函数及这些函数的功能，以及</a:t>
            </a:r>
            <a:r>
              <a:rPr lang="zh-CN" altLang="en-US" dirty="0" smtClean="0">
                <a:cs typeface="Arial Unicode MS" panose="020B0604020202020204" pitchFamily="34" charset="-122"/>
              </a:rPr>
              <a:t>为</a:t>
            </a:r>
            <a:r>
              <a:rPr lang="en-US" altLang="zh-CN" dirty="0" err="1" smtClean="0">
                <a:cs typeface="Arial Unicode MS" panose="020B0604020202020204" pitchFamily="34" charset="-122"/>
              </a:rPr>
              <a:t>O</a:t>
            </a:r>
            <a:r>
              <a:rPr lang="en-US" altLang="zh-CN" cap="none" dirty="0" err="1" smtClean="0">
                <a:cs typeface="Arial Unicode MS" panose="020B0604020202020204" pitchFamily="34" charset="-122"/>
              </a:rPr>
              <a:t>pen</a:t>
            </a:r>
            <a:r>
              <a:rPr lang="en-US" altLang="zh-CN" dirty="0" err="1" smtClean="0">
                <a:cs typeface="Arial Unicode MS" panose="020B0604020202020204" pitchFamily="34" charset="-122"/>
              </a:rPr>
              <a:t>CL</a:t>
            </a:r>
            <a:r>
              <a:rPr lang="zh-CN" altLang="en-US" dirty="0" smtClean="0">
                <a:cs typeface="Arial Unicode MS" panose="020B0604020202020204" pitchFamily="34" charset="-122"/>
              </a:rPr>
              <a:t>创建上下文的函数；</a:t>
            </a:r>
            <a:endParaRPr lang="en-US" altLang="zh-CN" dirty="0" smtClean="0"/>
          </a:p>
          <a:p>
            <a:r>
              <a:rPr lang="zh-CN" altLang="en-US" dirty="0"/>
              <a:t>运行</a:t>
            </a:r>
            <a:r>
              <a:rPr lang="zh-CN" altLang="en-US" dirty="0" smtClean="0"/>
              <a:t>时</a:t>
            </a:r>
            <a:r>
              <a:rPr lang="en-US" altLang="zh-CN" dirty="0" smtClean="0"/>
              <a:t>API</a:t>
            </a:r>
            <a:r>
              <a:rPr lang="zh-CN" altLang="en-US" dirty="0" smtClean="0"/>
              <a:t>：管理上下文创建命令队列以及运行时发生的其它操作；</a:t>
            </a:r>
            <a:endParaRPr lang="en-US" altLang="zh-CN" dirty="0" smtClean="0"/>
          </a:p>
          <a:p>
            <a:r>
              <a:rPr lang="zh-CN" altLang="en-US" dirty="0" smtClean="0"/>
              <a:t>内核编程语言：编写内核代码，称为</a:t>
            </a:r>
            <a:r>
              <a:rPr lang="en-US" altLang="zh-CN" dirty="0" err="1" smtClean="0">
                <a:cs typeface="Arial Unicode MS" panose="020B0604020202020204" pitchFamily="34" charset="-122"/>
              </a:rPr>
              <a:t>O</a:t>
            </a:r>
            <a:r>
              <a:rPr lang="en-US" altLang="zh-CN" cap="none" dirty="0" err="1" smtClean="0">
                <a:cs typeface="Arial Unicode MS" panose="020B0604020202020204" pitchFamily="34" charset="-122"/>
              </a:rPr>
              <a:t>pen</a:t>
            </a:r>
            <a:r>
              <a:rPr lang="en-US" altLang="zh-CN" dirty="0" err="1" smtClean="0">
                <a:cs typeface="Arial Unicode MS" panose="020B0604020202020204" pitchFamily="34" charset="-122"/>
              </a:rPr>
              <a:t>CL</a:t>
            </a:r>
            <a:r>
              <a:rPr lang="en-US" altLang="zh-CN" dirty="0" smtClean="0">
                <a:cs typeface="Arial Unicode MS" panose="020B0604020202020204" pitchFamily="34" charset="-122"/>
              </a:rPr>
              <a:t> C</a:t>
            </a:r>
            <a:r>
              <a:rPr lang="zh-CN" altLang="en-US" dirty="0" smtClean="0">
                <a:cs typeface="Arial Unicode MS" panose="020B0604020202020204" pitchFamily="34" charset="-122"/>
              </a:rPr>
              <a:t>编程语言；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7758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水滴">
  <a:themeElements>
    <a:clrScheme name="水滴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水滴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水滴</Template>
  <TotalTime>907</TotalTime>
  <Words>612</Words>
  <Application>Microsoft Office PowerPoint</Application>
  <PresentationFormat>宽屏</PresentationFormat>
  <Paragraphs>66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 Unicode MS</vt:lpstr>
      <vt:lpstr>楷体</vt:lpstr>
      <vt:lpstr>宋体</vt:lpstr>
      <vt:lpstr>Arial</vt:lpstr>
      <vt:lpstr>Calibri</vt:lpstr>
      <vt:lpstr>Tw Cen MT</vt:lpstr>
      <vt:lpstr>Wingdings</vt:lpstr>
      <vt:lpstr>水滴</vt:lpstr>
      <vt:lpstr>Opencl编程入门</vt:lpstr>
      <vt:lpstr>主要内容</vt:lpstr>
      <vt:lpstr>OpenCL简介</vt:lpstr>
      <vt:lpstr>OpenCL概念</vt:lpstr>
      <vt:lpstr>OpenCL问题模型</vt:lpstr>
      <vt:lpstr>OpenCL概念--平台模型</vt:lpstr>
      <vt:lpstr>OpenCL概念--执行模型</vt:lpstr>
      <vt:lpstr>OpenCL概念—内存模型</vt:lpstr>
      <vt:lpstr>OpenCL概念—编程模型</vt:lpstr>
      <vt:lpstr>OpenCL框架组成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Opencl编程入门</dc:title>
  <dc:creator>雪晴</dc:creator>
  <cp:lastModifiedBy>Jianjian</cp:lastModifiedBy>
  <cp:revision>52</cp:revision>
  <dcterms:created xsi:type="dcterms:W3CDTF">2015-04-13T14:01:29Z</dcterms:created>
  <dcterms:modified xsi:type="dcterms:W3CDTF">2018-09-18T11:34:12Z</dcterms:modified>
</cp:coreProperties>
</file>